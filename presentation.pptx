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79" r:id="rId3"/>
    <p:sldId id="257" r:id="rId4"/>
    <p:sldId id="262" r:id="rId5"/>
    <p:sldId id="263" r:id="rId6"/>
    <p:sldId id="264" r:id="rId7"/>
    <p:sldId id="265" r:id="rId8"/>
    <p:sldId id="275" r:id="rId9"/>
    <p:sldId id="276" r:id="rId10"/>
    <p:sldId id="280" r:id="rId11"/>
    <p:sldId id="281" r:id="rId12"/>
    <p:sldId id="287" r:id="rId13"/>
    <p:sldId id="266" r:id="rId14"/>
    <p:sldId id="259" r:id="rId15"/>
    <p:sldId id="261" r:id="rId16"/>
    <p:sldId id="260" r:id="rId17"/>
    <p:sldId id="274" r:id="rId18"/>
    <p:sldId id="267" r:id="rId19"/>
    <p:sldId id="271" r:id="rId20"/>
    <p:sldId id="268" r:id="rId21"/>
    <p:sldId id="269" r:id="rId22"/>
    <p:sldId id="277" r:id="rId23"/>
    <p:sldId id="270" r:id="rId24"/>
    <p:sldId id="282" r:id="rId25"/>
    <p:sldId id="283" r:id="rId26"/>
    <p:sldId id="284" r:id="rId27"/>
    <p:sldId id="272" r:id="rId28"/>
    <p:sldId id="278" r:id="rId29"/>
    <p:sldId id="273" r:id="rId30"/>
  </p:sldIdLst>
  <p:sldSz cx="12192000" cy="6858000"/>
  <p:notesSz cx="7104063" cy="10234613"/>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43" autoAdjust="0"/>
  </p:normalViewPr>
  <p:slideViewPr>
    <p:cSldViewPr snapToGrid="0">
      <p:cViewPr varScale="1">
        <p:scale>
          <a:sx n="64" d="100"/>
          <a:sy n="64" d="100"/>
        </p:scale>
        <p:origin x="72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1"/>
            <a:ext cx="3078427" cy="513508"/>
          </a:xfrm>
          <a:prstGeom prst="rect">
            <a:avLst/>
          </a:prstGeom>
        </p:spPr>
        <p:txBody>
          <a:bodyPr vert="horz" lIns="99075" tIns="49538" rIns="99075" bIns="49538" rtlCol="0"/>
          <a:lstStyle>
            <a:lvl1pPr algn="l">
              <a:defRPr sz="1300"/>
            </a:lvl1pPr>
          </a:lstStyle>
          <a:p>
            <a:endParaRPr lang="ru-RU"/>
          </a:p>
        </p:txBody>
      </p:sp>
      <p:sp>
        <p:nvSpPr>
          <p:cNvPr id="3" name="Дата 2"/>
          <p:cNvSpPr>
            <a:spLocks noGrp="1"/>
          </p:cNvSpPr>
          <p:nvPr>
            <p:ph type="dt" idx="1"/>
          </p:nvPr>
        </p:nvSpPr>
        <p:spPr>
          <a:xfrm>
            <a:off x="4023992" y="1"/>
            <a:ext cx="3078427" cy="513508"/>
          </a:xfrm>
          <a:prstGeom prst="rect">
            <a:avLst/>
          </a:prstGeom>
        </p:spPr>
        <p:txBody>
          <a:bodyPr vert="horz" lIns="99075" tIns="49538" rIns="99075" bIns="49538" rtlCol="0"/>
          <a:lstStyle>
            <a:lvl1pPr algn="r">
              <a:defRPr sz="1300"/>
            </a:lvl1pPr>
          </a:lstStyle>
          <a:p>
            <a:fld id="{DBE1C447-47B8-4003-AD1A-3C28AD90BC50}" type="datetimeFigureOut">
              <a:rPr lang="ru-RU" smtClean="0"/>
              <a:t>29.02.2024</a:t>
            </a:fld>
            <a:endParaRPr lang="ru-RU"/>
          </a:p>
        </p:txBody>
      </p:sp>
      <p:sp>
        <p:nvSpPr>
          <p:cNvPr id="4" name="Образ слайда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ru-RU"/>
          </a:p>
        </p:txBody>
      </p:sp>
      <p:sp>
        <p:nvSpPr>
          <p:cNvPr id="5" name="Заметки 4"/>
          <p:cNvSpPr>
            <a:spLocks noGrp="1"/>
          </p:cNvSpPr>
          <p:nvPr>
            <p:ph type="body" sz="quarter" idx="3"/>
          </p:nvPr>
        </p:nvSpPr>
        <p:spPr>
          <a:xfrm>
            <a:off x="710407" y="4925407"/>
            <a:ext cx="5683250" cy="4029880"/>
          </a:xfrm>
          <a:prstGeom prst="rect">
            <a:avLst/>
          </a:prstGeom>
        </p:spPr>
        <p:txBody>
          <a:bodyPr vert="horz" lIns="99075" tIns="49538" rIns="99075" bIns="49538"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ru-RU"/>
          </a:p>
        </p:txBody>
      </p:sp>
      <p:sp>
        <p:nvSpPr>
          <p:cNvPr id="7" name="Номер слайда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8FE97B16-67DB-4DD9-8BD9-0AA22EA03353}" type="slidenum">
              <a:rPr lang="ru-RU" smtClean="0"/>
              <a:t>‹#›</a:t>
            </a:fld>
            <a:endParaRPr lang="ru-RU"/>
          </a:p>
        </p:txBody>
      </p:sp>
    </p:spTree>
    <p:extLst>
      <p:ext uri="{BB962C8B-B14F-4D97-AF65-F5344CB8AC3E}">
        <p14:creationId xmlns:p14="http://schemas.microsoft.com/office/powerpoint/2010/main" val="1909831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Всем привет. Меня зовут Никита Маслов, и сегодня я расскажу про новую фичу </a:t>
            </a:r>
            <a:r>
              <a:rPr lang="en-US" dirty="0"/>
              <a:t>C# 12 – primary constructors. </a:t>
            </a:r>
            <a:endParaRPr lang="ru-RU" dirty="0"/>
          </a:p>
        </p:txBody>
      </p:sp>
      <p:sp>
        <p:nvSpPr>
          <p:cNvPr id="4" name="Номер слайда 3"/>
          <p:cNvSpPr>
            <a:spLocks noGrp="1"/>
          </p:cNvSpPr>
          <p:nvPr>
            <p:ph type="sldNum" sz="quarter" idx="5"/>
          </p:nvPr>
        </p:nvSpPr>
        <p:spPr/>
        <p:txBody>
          <a:bodyPr/>
          <a:lstStyle/>
          <a:p>
            <a:fld id="{8FE97B16-67DB-4DD9-8BD9-0AA22EA03353}" type="slidenum">
              <a:rPr lang="ru-RU" smtClean="0"/>
              <a:t>1</a:t>
            </a:fld>
            <a:endParaRPr lang="ru-RU"/>
          </a:p>
        </p:txBody>
      </p:sp>
    </p:spTree>
    <p:extLst>
      <p:ext uri="{BB962C8B-B14F-4D97-AF65-F5344CB8AC3E}">
        <p14:creationId xmlns:p14="http://schemas.microsoft.com/office/powerpoint/2010/main" val="3292544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русский язык </a:t>
            </a:r>
            <a:r>
              <a:rPr lang="en-US" dirty="0"/>
              <a:t>primary constructor</a:t>
            </a:r>
            <a:r>
              <a:rPr lang="ru-RU" dirty="0"/>
              <a:t> переводится как основной конструктор. Такое название используется как в официальной документации </a:t>
            </a:r>
            <a:r>
              <a:rPr lang="en-US" dirty="0"/>
              <a:t>Microsoft</a:t>
            </a:r>
            <a:r>
              <a:rPr lang="ru-RU" dirty="0"/>
              <a:t>, так и в переводах книг, в том числе по другим языкам программирования</a:t>
            </a:r>
          </a:p>
        </p:txBody>
      </p:sp>
      <p:sp>
        <p:nvSpPr>
          <p:cNvPr id="4" name="Номер слайда 3"/>
          <p:cNvSpPr>
            <a:spLocks noGrp="1"/>
          </p:cNvSpPr>
          <p:nvPr>
            <p:ph type="sldNum" sz="quarter" idx="5"/>
          </p:nvPr>
        </p:nvSpPr>
        <p:spPr/>
        <p:txBody>
          <a:bodyPr/>
          <a:lstStyle/>
          <a:p>
            <a:fld id="{8FE97B16-67DB-4DD9-8BD9-0AA22EA03353}" type="slidenum">
              <a:rPr lang="ru-RU" smtClean="0"/>
              <a:t>2</a:t>
            </a:fld>
            <a:endParaRPr lang="ru-RU"/>
          </a:p>
        </p:txBody>
      </p:sp>
    </p:spTree>
    <p:extLst>
      <p:ext uri="{BB962C8B-B14F-4D97-AF65-F5344CB8AC3E}">
        <p14:creationId xmlns:p14="http://schemas.microsoft.com/office/powerpoint/2010/main" val="3851828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самом деле, фича не совсем новая, мы уже знакомы с этим синтаксисом. В </a:t>
            </a:r>
            <a:r>
              <a:rPr lang="en-US" dirty="0"/>
              <a:t>C# </a:t>
            </a:r>
            <a:r>
              <a:rPr lang="ru-RU" dirty="0"/>
              <a:t>версии </a:t>
            </a:r>
            <a:r>
              <a:rPr lang="en-US" dirty="0"/>
              <a:t>9 </a:t>
            </a:r>
            <a:r>
              <a:rPr lang="ru-RU" dirty="0"/>
              <a:t>появились рекорды, и вместе с ними синтаксис для описания основного конструктора. После названия рекорда можно указать список параметров, из которых компилятор сгенерирует для нас свойства. Удобная штука, которая позволяет снизить количество </a:t>
            </a:r>
            <a:r>
              <a:rPr lang="en-US" dirty="0"/>
              <a:t>boilerplate</a:t>
            </a:r>
            <a:r>
              <a:rPr lang="ru-RU" dirty="0"/>
              <a:t>-кода</a:t>
            </a:r>
          </a:p>
          <a:p>
            <a:r>
              <a:rPr lang="ru-RU" dirty="0"/>
              <a:t>Здесь и далее слева на слайде – оригинальный код, справа – упрощенный код без синтаксического сахара, полученный с помощью сервиса </a:t>
            </a:r>
            <a:r>
              <a:rPr lang="en-US" dirty="0"/>
              <a:t>SharpLab.io</a:t>
            </a:r>
            <a:endParaRPr lang="ru-RU" dirty="0"/>
          </a:p>
        </p:txBody>
      </p:sp>
      <p:sp>
        <p:nvSpPr>
          <p:cNvPr id="4" name="Номер слайда 3"/>
          <p:cNvSpPr>
            <a:spLocks noGrp="1"/>
          </p:cNvSpPr>
          <p:nvPr>
            <p:ph type="sldNum" sz="quarter" idx="5"/>
          </p:nvPr>
        </p:nvSpPr>
        <p:spPr/>
        <p:txBody>
          <a:bodyPr/>
          <a:lstStyle/>
          <a:p>
            <a:fld id="{8FE97B16-67DB-4DD9-8BD9-0AA22EA03353}" type="slidenum">
              <a:rPr lang="ru-RU" smtClean="0"/>
              <a:t>3</a:t>
            </a:fld>
            <a:endParaRPr lang="ru-RU"/>
          </a:p>
        </p:txBody>
      </p:sp>
    </p:spTree>
    <p:extLst>
      <p:ext uri="{BB962C8B-B14F-4D97-AF65-F5344CB8AC3E}">
        <p14:creationId xmlns:p14="http://schemas.microsoft.com/office/powerpoint/2010/main" val="2888300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Кажется, что если мы объявим основной конструктор для класса, компилятор аналогично рекордам сгенерирует нам </a:t>
            </a:r>
            <a:r>
              <a:rPr lang="en-US" dirty="0" err="1"/>
              <a:t>readonly</a:t>
            </a:r>
            <a:r>
              <a:rPr lang="en-US" dirty="0"/>
              <a:t>-</a:t>
            </a:r>
            <a:r>
              <a:rPr lang="ru-RU" dirty="0"/>
              <a:t>поля</a:t>
            </a:r>
          </a:p>
        </p:txBody>
      </p:sp>
      <p:sp>
        <p:nvSpPr>
          <p:cNvPr id="4" name="Номер слайда 3"/>
          <p:cNvSpPr>
            <a:spLocks noGrp="1"/>
          </p:cNvSpPr>
          <p:nvPr>
            <p:ph type="sldNum" sz="quarter" idx="5"/>
          </p:nvPr>
        </p:nvSpPr>
        <p:spPr/>
        <p:txBody>
          <a:bodyPr/>
          <a:lstStyle/>
          <a:p>
            <a:fld id="{8FE97B16-67DB-4DD9-8BD9-0AA22EA03353}" type="slidenum">
              <a:rPr lang="ru-RU" smtClean="0"/>
              <a:t>4</a:t>
            </a:fld>
            <a:endParaRPr lang="ru-RU"/>
          </a:p>
        </p:txBody>
      </p:sp>
    </p:spTree>
    <p:extLst>
      <p:ext uri="{BB962C8B-B14F-4D97-AF65-F5344CB8AC3E}">
        <p14:creationId xmlns:p14="http://schemas.microsoft.com/office/powerpoint/2010/main" val="2616825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самом деле, если мы объявим только основной конструктор у класса, компилятор сгенерирует нам объявление этого конструктора, и ничего более</a:t>
            </a:r>
          </a:p>
        </p:txBody>
      </p:sp>
      <p:sp>
        <p:nvSpPr>
          <p:cNvPr id="4" name="Номер слайда 3"/>
          <p:cNvSpPr>
            <a:spLocks noGrp="1"/>
          </p:cNvSpPr>
          <p:nvPr>
            <p:ph type="sldNum" sz="quarter" idx="5"/>
          </p:nvPr>
        </p:nvSpPr>
        <p:spPr/>
        <p:txBody>
          <a:bodyPr/>
          <a:lstStyle/>
          <a:p>
            <a:fld id="{8FE97B16-67DB-4DD9-8BD9-0AA22EA03353}" type="slidenum">
              <a:rPr lang="ru-RU" smtClean="0"/>
              <a:t>5</a:t>
            </a:fld>
            <a:endParaRPr lang="ru-RU"/>
          </a:p>
        </p:txBody>
      </p:sp>
    </p:spTree>
    <p:extLst>
      <p:ext uri="{BB962C8B-B14F-4D97-AF65-F5344CB8AC3E}">
        <p14:creationId xmlns:p14="http://schemas.microsoft.com/office/powerpoint/2010/main" val="2546179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Почему так? Посмотрим на предложение по добавлению этой фичи в язык. На слайде выдержка из него, сейчас переведу.</a:t>
            </a:r>
          </a:p>
          <a:p>
            <a:r>
              <a:rPr lang="ru-RU" b="0" i="0" dirty="0">
                <a:solidFill>
                  <a:srgbClr val="3C4043"/>
                </a:solidFill>
                <a:effectLst/>
                <a:latin typeface="Roboto" panose="02000000000000000000" pitchFamily="2" charset="0"/>
              </a:rPr>
              <a:t>Классы и структуры могут иметь список параметров. Параметры основного конструктора находятся в области действия объявления класса или структуры, и если они захватываются членом функции или анонимной функцией, они сохраняются соответствующим образом (например так, чтобы к ним было нельзя обратиться из </a:t>
            </a:r>
            <a:r>
              <a:rPr lang="en-US" b="0" i="0" dirty="0">
                <a:solidFill>
                  <a:srgbClr val="3C4043"/>
                </a:solidFill>
                <a:effectLst/>
                <a:latin typeface="Roboto" panose="02000000000000000000" pitchFamily="2" charset="0"/>
              </a:rPr>
              <a:t>C#</a:t>
            </a:r>
            <a:r>
              <a:rPr lang="ru-RU" b="0" i="0" dirty="0">
                <a:solidFill>
                  <a:srgbClr val="3C4043"/>
                </a:solidFill>
                <a:effectLst/>
                <a:latin typeface="Roboto" panose="02000000000000000000" pitchFamily="2" charset="0"/>
              </a:rPr>
              <a:t>-кода).</a:t>
            </a:r>
            <a:endParaRPr lang="ru-RU" dirty="0"/>
          </a:p>
        </p:txBody>
      </p:sp>
      <p:sp>
        <p:nvSpPr>
          <p:cNvPr id="4" name="Номер слайда 3"/>
          <p:cNvSpPr>
            <a:spLocks noGrp="1"/>
          </p:cNvSpPr>
          <p:nvPr>
            <p:ph type="sldNum" sz="quarter" idx="5"/>
          </p:nvPr>
        </p:nvSpPr>
        <p:spPr/>
        <p:txBody>
          <a:bodyPr/>
          <a:lstStyle/>
          <a:p>
            <a:fld id="{8FE97B16-67DB-4DD9-8BD9-0AA22EA03353}" type="slidenum">
              <a:rPr lang="ru-RU" smtClean="0"/>
              <a:t>6</a:t>
            </a:fld>
            <a:endParaRPr lang="ru-RU"/>
          </a:p>
        </p:txBody>
      </p:sp>
    </p:spTree>
    <p:extLst>
      <p:ext uri="{BB962C8B-B14F-4D97-AF65-F5344CB8AC3E}">
        <p14:creationId xmlns:p14="http://schemas.microsoft.com/office/powerpoint/2010/main" val="1910684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Получается, что компилятор сгенерирует поля только если мы начнем использовать параметры основного конструктора. Причем поля – это деталь реализации, в теории можно хранить параметры конструктора вне объекта. Повторим ещё раз. Получается, в параметрах основного конструктора мы прописываем не список полей, </a:t>
            </a:r>
            <a:r>
              <a:rPr lang="ru-RU" i="1" dirty="0"/>
              <a:t>а список параметров, которые захватываются и имеют область видимости – весь класс</a:t>
            </a:r>
          </a:p>
        </p:txBody>
      </p:sp>
      <p:sp>
        <p:nvSpPr>
          <p:cNvPr id="4" name="Номер слайда 3"/>
          <p:cNvSpPr>
            <a:spLocks noGrp="1"/>
          </p:cNvSpPr>
          <p:nvPr>
            <p:ph type="sldNum" sz="quarter" idx="5"/>
          </p:nvPr>
        </p:nvSpPr>
        <p:spPr/>
        <p:txBody>
          <a:bodyPr/>
          <a:lstStyle/>
          <a:p>
            <a:fld id="{8FE97B16-67DB-4DD9-8BD9-0AA22EA03353}" type="slidenum">
              <a:rPr lang="ru-RU" smtClean="0"/>
              <a:t>7</a:t>
            </a:fld>
            <a:endParaRPr lang="ru-RU"/>
          </a:p>
        </p:txBody>
      </p:sp>
    </p:spTree>
    <p:extLst>
      <p:ext uri="{BB962C8B-B14F-4D97-AF65-F5344CB8AC3E}">
        <p14:creationId xmlns:p14="http://schemas.microsoft.com/office/powerpoint/2010/main" val="2334603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Мы посмотрели на классы, основной конструктор также доступен и для структур. Генерируется всё аналогично классам</a:t>
            </a:r>
          </a:p>
        </p:txBody>
      </p:sp>
      <p:sp>
        <p:nvSpPr>
          <p:cNvPr id="4" name="Номер слайда 3"/>
          <p:cNvSpPr>
            <a:spLocks noGrp="1"/>
          </p:cNvSpPr>
          <p:nvPr>
            <p:ph type="sldNum" sz="quarter" idx="5"/>
          </p:nvPr>
        </p:nvSpPr>
        <p:spPr/>
        <p:txBody>
          <a:bodyPr/>
          <a:lstStyle/>
          <a:p>
            <a:fld id="{8FE97B16-67DB-4DD9-8BD9-0AA22EA03353}" type="slidenum">
              <a:rPr lang="ru-RU" smtClean="0"/>
              <a:t>8</a:t>
            </a:fld>
            <a:endParaRPr lang="ru-RU"/>
          </a:p>
        </p:txBody>
      </p:sp>
    </p:spTree>
    <p:extLst>
      <p:ext uri="{BB962C8B-B14F-4D97-AF65-F5344CB8AC3E}">
        <p14:creationId xmlns:p14="http://schemas.microsoft.com/office/powerpoint/2010/main" val="4019987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B14B-5845-620F-5360-2EE52F6FA752}"/>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1A157FA-A278-2403-F512-D1FA18CAC1E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CC52EB0-EA9B-908F-1463-A7424DF6B60D}"/>
              </a:ext>
            </a:extLst>
          </p:cNvPr>
          <p:cNvSpPr>
            <a:spLocks noGrp="1"/>
          </p:cNvSpPr>
          <p:nvPr>
            <p:ph type="body" idx="1"/>
          </p:nvPr>
        </p:nvSpPr>
        <p:spPr/>
        <p:txBody>
          <a:bodyPr/>
          <a:lstStyle/>
          <a:p>
            <a:r>
              <a:rPr lang="ru-RU" dirty="0"/>
              <a:t>Для </a:t>
            </a:r>
            <a:r>
              <a:rPr lang="en-US" dirty="0" err="1"/>
              <a:t>readonly</a:t>
            </a:r>
            <a:r>
              <a:rPr lang="en-US" dirty="0"/>
              <a:t>-</a:t>
            </a:r>
            <a:r>
              <a:rPr lang="ru-RU" dirty="0"/>
              <a:t>структур ожидаемо получаем </a:t>
            </a:r>
            <a:r>
              <a:rPr lang="en-US" dirty="0" err="1"/>
              <a:t>readonly</a:t>
            </a:r>
            <a:r>
              <a:rPr lang="ru-RU" dirty="0"/>
              <a:t>-поля</a:t>
            </a:r>
          </a:p>
        </p:txBody>
      </p:sp>
      <p:sp>
        <p:nvSpPr>
          <p:cNvPr id="4" name="Номер слайда 3">
            <a:extLst>
              <a:ext uri="{FF2B5EF4-FFF2-40B4-BE49-F238E27FC236}">
                <a16:creationId xmlns:a16="http://schemas.microsoft.com/office/drawing/2014/main" id="{68893C68-B596-17F5-A030-BE1B090E109E}"/>
              </a:ext>
            </a:extLst>
          </p:cNvPr>
          <p:cNvSpPr>
            <a:spLocks noGrp="1"/>
          </p:cNvSpPr>
          <p:nvPr>
            <p:ph type="sldNum" sz="quarter" idx="5"/>
          </p:nvPr>
        </p:nvSpPr>
        <p:spPr/>
        <p:txBody>
          <a:bodyPr/>
          <a:lstStyle/>
          <a:p>
            <a:fld id="{8FE97B16-67DB-4DD9-8BD9-0AA22EA03353}" type="slidenum">
              <a:rPr lang="ru-RU" smtClean="0"/>
              <a:t>9</a:t>
            </a:fld>
            <a:endParaRPr lang="ru-RU"/>
          </a:p>
        </p:txBody>
      </p:sp>
    </p:spTree>
    <p:extLst>
      <p:ext uri="{BB962C8B-B14F-4D97-AF65-F5344CB8AC3E}">
        <p14:creationId xmlns:p14="http://schemas.microsoft.com/office/powerpoint/2010/main" val="4039323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Мы посмотрели на то, что генерирует компилятор. Теперь перейдем к тому, как можно использовать новую фичу. </a:t>
            </a:r>
          </a:p>
          <a:p>
            <a:r>
              <a:rPr lang="ru-RU" dirty="0"/>
              <a:t>Во первых, параметры основного конструктора можно использовать для инициализации полей и свойств. </a:t>
            </a:r>
          </a:p>
          <a:p>
            <a:r>
              <a:rPr lang="ru-RU" dirty="0"/>
              <a:t>Причем поле мы можем назвать точно так же, как и параметр конструктора. В таком случае в процессе инициализации будет использоваться параметр конструктора, а после инициализации – поле.</a:t>
            </a:r>
          </a:p>
          <a:p>
            <a:r>
              <a:rPr lang="ru-RU" dirty="0"/>
              <a:t>На английском это описывается термином «</a:t>
            </a:r>
            <a:r>
              <a:rPr lang="en-US" dirty="0"/>
              <a:t>shadow</a:t>
            </a:r>
            <a:r>
              <a:rPr lang="ru-RU" dirty="0"/>
              <a:t>».</a:t>
            </a:r>
          </a:p>
          <a:p>
            <a:r>
              <a:rPr lang="ru-RU" dirty="0"/>
              <a:t>Например, на слайде свойство</a:t>
            </a:r>
            <a:r>
              <a:rPr lang="en-US" dirty="0"/>
              <a:t> Age</a:t>
            </a:r>
            <a:r>
              <a:rPr lang="ru-RU" dirty="0"/>
              <a:t> инициализируется параметром конструктора, а в методе используется поле.</a:t>
            </a:r>
          </a:p>
        </p:txBody>
      </p:sp>
      <p:sp>
        <p:nvSpPr>
          <p:cNvPr id="4" name="Номер слайда 3"/>
          <p:cNvSpPr>
            <a:spLocks noGrp="1"/>
          </p:cNvSpPr>
          <p:nvPr>
            <p:ph type="sldNum" sz="quarter" idx="5"/>
          </p:nvPr>
        </p:nvSpPr>
        <p:spPr/>
        <p:txBody>
          <a:bodyPr/>
          <a:lstStyle/>
          <a:p>
            <a:fld id="{8FE97B16-67DB-4DD9-8BD9-0AA22EA03353}" type="slidenum">
              <a:rPr lang="ru-RU" smtClean="0"/>
              <a:t>10</a:t>
            </a:fld>
            <a:endParaRPr lang="ru-RU"/>
          </a:p>
        </p:txBody>
      </p:sp>
    </p:spTree>
    <p:extLst>
      <p:ext uri="{BB962C8B-B14F-4D97-AF65-F5344CB8AC3E}">
        <p14:creationId xmlns:p14="http://schemas.microsoft.com/office/powerpoint/2010/main" val="1172800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Основной конструктор можно использовать и при наследовании, чтобы передать параметр в базовый конструктор. Важно учитывать, что область видимости параметров основного конструктора ограничена самим классом.</a:t>
            </a:r>
          </a:p>
          <a:p>
            <a:r>
              <a:rPr lang="ru-RU" dirty="0"/>
              <a:t>Т.е. в дочернем классе параметры основного конструктора родительского класса недоступны.</a:t>
            </a:r>
          </a:p>
        </p:txBody>
      </p:sp>
      <p:sp>
        <p:nvSpPr>
          <p:cNvPr id="4" name="Номер слайда 3"/>
          <p:cNvSpPr>
            <a:spLocks noGrp="1"/>
          </p:cNvSpPr>
          <p:nvPr>
            <p:ph type="sldNum" sz="quarter" idx="5"/>
          </p:nvPr>
        </p:nvSpPr>
        <p:spPr/>
        <p:txBody>
          <a:bodyPr/>
          <a:lstStyle/>
          <a:p>
            <a:fld id="{8FE97B16-67DB-4DD9-8BD9-0AA22EA03353}" type="slidenum">
              <a:rPr lang="ru-RU" smtClean="0"/>
              <a:t>11</a:t>
            </a:fld>
            <a:endParaRPr lang="ru-RU"/>
          </a:p>
        </p:txBody>
      </p:sp>
    </p:spTree>
    <p:extLst>
      <p:ext uri="{BB962C8B-B14F-4D97-AF65-F5344CB8AC3E}">
        <p14:creationId xmlns:p14="http://schemas.microsoft.com/office/powerpoint/2010/main" val="2749202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Объявление основного конструктора не забирает возможность добавить ещё несколько конструкторов к классу. Но при этом все явные конструкторы должны вызывать основной через </a:t>
            </a:r>
            <a:r>
              <a:rPr lang="en-US" dirty="0"/>
              <a:t>this, </a:t>
            </a:r>
            <a:r>
              <a:rPr lang="ru-RU" dirty="0"/>
              <a:t>чтобы гарантировать, что параметры основного конструктора всегда заданы.</a:t>
            </a:r>
          </a:p>
        </p:txBody>
      </p:sp>
      <p:sp>
        <p:nvSpPr>
          <p:cNvPr id="4" name="Номер слайда 3"/>
          <p:cNvSpPr>
            <a:spLocks noGrp="1"/>
          </p:cNvSpPr>
          <p:nvPr>
            <p:ph type="sldNum" sz="quarter" idx="5"/>
          </p:nvPr>
        </p:nvSpPr>
        <p:spPr/>
        <p:txBody>
          <a:bodyPr/>
          <a:lstStyle/>
          <a:p>
            <a:fld id="{8FE97B16-67DB-4DD9-8BD9-0AA22EA03353}" type="slidenum">
              <a:rPr lang="ru-RU" smtClean="0"/>
              <a:t>12</a:t>
            </a:fld>
            <a:endParaRPr lang="ru-RU"/>
          </a:p>
        </p:txBody>
      </p:sp>
    </p:spTree>
    <p:extLst>
      <p:ext uri="{BB962C8B-B14F-4D97-AF65-F5344CB8AC3E}">
        <p14:creationId xmlns:p14="http://schemas.microsoft.com/office/powerpoint/2010/main" val="2447616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Посмотрим на проблемы, которые могут возникнуть из-за такой реализации основных конструкторов</a:t>
            </a:r>
          </a:p>
        </p:txBody>
      </p:sp>
      <p:sp>
        <p:nvSpPr>
          <p:cNvPr id="4" name="Номер слайда 3"/>
          <p:cNvSpPr>
            <a:spLocks noGrp="1"/>
          </p:cNvSpPr>
          <p:nvPr>
            <p:ph type="sldNum" sz="quarter" idx="5"/>
          </p:nvPr>
        </p:nvSpPr>
        <p:spPr/>
        <p:txBody>
          <a:bodyPr/>
          <a:lstStyle/>
          <a:p>
            <a:fld id="{8FE97B16-67DB-4DD9-8BD9-0AA22EA03353}" type="slidenum">
              <a:rPr lang="ru-RU" smtClean="0"/>
              <a:t>13</a:t>
            </a:fld>
            <a:endParaRPr lang="ru-RU"/>
          </a:p>
        </p:txBody>
      </p:sp>
    </p:spTree>
    <p:extLst>
      <p:ext uri="{BB962C8B-B14F-4D97-AF65-F5344CB8AC3E}">
        <p14:creationId xmlns:p14="http://schemas.microsoft.com/office/powerpoint/2010/main" val="2926825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Первая проблема. Если мы используем конструктор для внедрения зависимостей</a:t>
            </a:r>
            <a:r>
              <a:rPr lang="en-US" dirty="0"/>
              <a:t>, </a:t>
            </a:r>
            <a:r>
              <a:rPr lang="ru-RU" dirty="0"/>
              <a:t>то обычно мы их объявляем неизменяемыми. С основным конструктором зависимости получаются изменяемые, так что такой код совершенно легален, нужно быть внимательнее.</a:t>
            </a:r>
          </a:p>
        </p:txBody>
      </p:sp>
      <p:sp>
        <p:nvSpPr>
          <p:cNvPr id="4" name="Номер слайда 3"/>
          <p:cNvSpPr>
            <a:spLocks noGrp="1"/>
          </p:cNvSpPr>
          <p:nvPr>
            <p:ph type="sldNum" sz="quarter" idx="5"/>
          </p:nvPr>
        </p:nvSpPr>
        <p:spPr/>
        <p:txBody>
          <a:bodyPr/>
          <a:lstStyle/>
          <a:p>
            <a:fld id="{8FE97B16-67DB-4DD9-8BD9-0AA22EA03353}" type="slidenum">
              <a:rPr lang="ru-RU" smtClean="0"/>
              <a:t>14</a:t>
            </a:fld>
            <a:endParaRPr lang="ru-RU"/>
          </a:p>
        </p:txBody>
      </p:sp>
    </p:spTree>
    <p:extLst>
      <p:ext uri="{BB962C8B-B14F-4D97-AF65-F5344CB8AC3E}">
        <p14:creationId xmlns:p14="http://schemas.microsoft.com/office/powerpoint/2010/main" val="3836149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Если у нас была какая-то валидация аргументов в объявлении конструктора, то её можно поместить только в объявление поля. Вызовы методов, которые были в конструкторе, вообще некуда перенести</a:t>
            </a:r>
          </a:p>
        </p:txBody>
      </p:sp>
      <p:sp>
        <p:nvSpPr>
          <p:cNvPr id="4" name="Номер слайда 3"/>
          <p:cNvSpPr>
            <a:spLocks noGrp="1"/>
          </p:cNvSpPr>
          <p:nvPr>
            <p:ph type="sldNum" sz="quarter" idx="5"/>
          </p:nvPr>
        </p:nvSpPr>
        <p:spPr/>
        <p:txBody>
          <a:bodyPr/>
          <a:lstStyle/>
          <a:p>
            <a:fld id="{8FE97B16-67DB-4DD9-8BD9-0AA22EA03353}" type="slidenum">
              <a:rPr lang="ru-RU" smtClean="0"/>
              <a:t>15</a:t>
            </a:fld>
            <a:endParaRPr lang="ru-RU"/>
          </a:p>
        </p:txBody>
      </p:sp>
    </p:spTree>
    <p:extLst>
      <p:ext uri="{BB962C8B-B14F-4D97-AF65-F5344CB8AC3E}">
        <p14:creationId xmlns:p14="http://schemas.microsoft.com/office/powerpoint/2010/main" val="1675311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Обычно поля называются с нижнего подчеркивания. Т.к. в основном конструкторе мы указываем список параметров, то они именуются точно так же, как и локальные переменные, можно случайно спутать</a:t>
            </a:r>
          </a:p>
          <a:p>
            <a:r>
              <a:rPr lang="ru-RU" dirty="0"/>
              <a:t>Также, если вы привыкли использовать поля через </a:t>
            </a:r>
            <a:r>
              <a:rPr lang="en-US" dirty="0"/>
              <a:t>this – </a:t>
            </a:r>
            <a:r>
              <a:rPr lang="ru-RU" dirty="0"/>
              <a:t>это тоже не работает, по той же причине. Какие ещё у нас есть варианты?</a:t>
            </a:r>
          </a:p>
        </p:txBody>
      </p:sp>
      <p:sp>
        <p:nvSpPr>
          <p:cNvPr id="4" name="Номер слайда 3"/>
          <p:cNvSpPr>
            <a:spLocks noGrp="1"/>
          </p:cNvSpPr>
          <p:nvPr>
            <p:ph type="sldNum" sz="quarter" idx="5"/>
          </p:nvPr>
        </p:nvSpPr>
        <p:spPr/>
        <p:txBody>
          <a:bodyPr/>
          <a:lstStyle/>
          <a:p>
            <a:fld id="{8FE97B16-67DB-4DD9-8BD9-0AA22EA03353}" type="slidenum">
              <a:rPr lang="ru-RU" smtClean="0"/>
              <a:t>16</a:t>
            </a:fld>
            <a:endParaRPr lang="ru-RU"/>
          </a:p>
        </p:txBody>
      </p:sp>
    </p:spTree>
    <p:extLst>
      <p:ext uri="{BB962C8B-B14F-4D97-AF65-F5344CB8AC3E}">
        <p14:creationId xmlns:p14="http://schemas.microsoft.com/office/powerpoint/2010/main" val="1411733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D8CB9-BFCD-7AD1-F2C6-3187BAA5B09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3AA5BCD8-1A49-CDB4-9AFC-2952D17E625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168BC2A-955B-F359-BD05-DE39FADAF2DE}"/>
              </a:ext>
            </a:extLst>
          </p:cNvPr>
          <p:cNvSpPr>
            <a:spLocks noGrp="1"/>
          </p:cNvSpPr>
          <p:nvPr>
            <p:ph type="body" idx="1"/>
          </p:nvPr>
        </p:nvSpPr>
        <p:spPr/>
        <p:txBody>
          <a:bodyPr/>
          <a:lstStyle/>
          <a:p>
            <a:r>
              <a:rPr lang="ru-RU" dirty="0"/>
              <a:t>Называть аргументы с нижним подчеркиванием тоже не вариант – это название будет использоваться в именованных аргументах, выглядит не очень</a:t>
            </a:r>
          </a:p>
        </p:txBody>
      </p:sp>
      <p:sp>
        <p:nvSpPr>
          <p:cNvPr id="4" name="Номер слайда 3">
            <a:extLst>
              <a:ext uri="{FF2B5EF4-FFF2-40B4-BE49-F238E27FC236}">
                <a16:creationId xmlns:a16="http://schemas.microsoft.com/office/drawing/2014/main" id="{9C22FF16-3D4F-9D8A-1805-C49B99DA9800}"/>
              </a:ext>
            </a:extLst>
          </p:cNvPr>
          <p:cNvSpPr>
            <a:spLocks noGrp="1"/>
          </p:cNvSpPr>
          <p:nvPr>
            <p:ph type="sldNum" sz="quarter" idx="5"/>
          </p:nvPr>
        </p:nvSpPr>
        <p:spPr/>
        <p:txBody>
          <a:bodyPr/>
          <a:lstStyle/>
          <a:p>
            <a:fld id="{8FE97B16-67DB-4DD9-8BD9-0AA22EA03353}" type="slidenum">
              <a:rPr lang="ru-RU" smtClean="0"/>
              <a:t>17</a:t>
            </a:fld>
            <a:endParaRPr lang="ru-RU"/>
          </a:p>
        </p:txBody>
      </p:sp>
    </p:spTree>
    <p:extLst>
      <p:ext uri="{BB962C8B-B14F-4D97-AF65-F5344CB8AC3E}">
        <p14:creationId xmlns:p14="http://schemas.microsoft.com/office/powerpoint/2010/main" val="3989717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C4043"/>
                </a:solidFill>
                <a:effectLst/>
                <a:latin typeface="Roboto" panose="02000000000000000000" pitchFamily="2" charset="0"/>
              </a:rPr>
              <a:t>Следующая проблема, которая может привести уже к логическим ошибкам. На слайде параметр первичного конструктора используется для инициализации свойства и также захватывается. Получается, он сохраняется в объекте в двух местах, и изменяться будет независимо. К счастью, для защиты от этого есть предупреждение компилятора</a:t>
            </a:r>
            <a:endParaRPr lang="ru-RU" dirty="0"/>
          </a:p>
        </p:txBody>
      </p:sp>
      <p:sp>
        <p:nvSpPr>
          <p:cNvPr id="4" name="Номер слайда 3"/>
          <p:cNvSpPr>
            <a:spLocks noGrp="1"/>
          </p:cNvSpPr>
          <p:nvPr>
            <p:ph type="sldNum" sz="quarter" idx="5"/>
          </p:nvPr>
        </p:nvSpPr>
        <p:spPr/>
        <p:txBody>
          <a:bodyPr/>
          <a:lstStyle/>
          <a:p>
            <a:fld id="{8FE97B16-67DB-4DD9-8BD9-0AA22EA03353}" type="slidenum">
              <a:rPr lang="ru-RU" smtClean="0"/>
              <a:t>18</a:t>
            </a:fld>
            <a:endParaRPr lang="ru-RU"/>
          </a:p>
        </p:txBody>
      </p:sp>
    </p:spTree>
    <p:extLst>
      <p:ext uri="{BB962C8B-B14F-4D97-AF65-F5344CB8AC3E}">
        <p14:creationId xmlns:p14="http://schemas.microsoft.com/office/powerpoint/2010/main" val="3877071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Почему основные конструкторы получились именно такими? </a:t>
            </a:r>
            <a:r>
              <a:rPr lang="ru-RU" strike="sngStrike" dirty="0"/>
              <a:t>На слайде цитата из предложения по добавлению фичи в язык, сейчас перескажу. </a:t>
            </a:r>
            <a:r>
              <a:rPr lang="ru-RU" dirty="0"/>
              <a:t>Команда по дизайну языка рассматривала несколько вариантов, в том числе явную генерацию полей. Хотя такое поведение и было бы схоже с основными конструкторами для рекордов, от этой идеи отказались, так как такое поведение не соответствовало тому, как параметры захватываются в других местах в языке</a:t>
            </a:r>
            <a:endParaRPr lang="en-US" b="1" dirty="0"/>
          </a:p>
          <a:p>
            <a:r>
              <a:rPr lang="ru-RU" dirty="0"/>
              <a:t>Вторая причина – это вопрос наименования. Разные разработчики используют разные наименования для полей, какой способ выбрать?</a:t>
            </a:r>
          </a:p>
        </p:txBody>
      </p:sp>
      <p:sp>
        <p:nvSpPr>
          <p:cNvPr id="4" name="Номер слайда 3"/>
          <p:cNvSpPr>
            <a:spLocks noGrp="1"/>
          </p:cNvSpPr>
          <p:nvPr>
            <p:ph type="sldNum" sz="quarter" idx="5"/>
          </p:nvPr>
        </p:nvSpPr>
        <p:spPr/>
        <p:txBody>
          <a:bodyPr/>
          <a:lstStyle/>
          <a:p>
            <a:fld id="{8FE97B16-67DB-4DD9-8BD9-0AA22EA03353}" type="slidenum">
              <a:rPr lang="ru-RU" smtClean="0"/>
              <a:t>19</a:t>
            </a:fld>
            <a:endParaRPr lang="ru-RU"/>
          </a:p>
        </p:txBody>
      </p:sp>
    </p:spTree>
    <p:extLst>
      <p:ext uri="{BB962C8B-B14F-4D97-AF65-F5344CB8AC3E}">
        <p14:creationId xmlns:p14="http://schemas.microsoft.com/office/powerpoint/2010/main" val="2864307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Давайте посмотрим, какие варианты по использованию основных конструкторов у нас есть, не смотря на описанные проблемы</a:t>
            </a:r>
          </a:p>
        </p:txBody>
      </p:sp>
      <p:sp>
        <p:nvSpPr>
          <p:cNvPr id="4" name="Номер слайда 3"/>
          <p:cNvSpPr>
            <a:spLocks noGrp="1"/>
          </p:cNvSpPr>
          <p:nvPr>
            <p:ph type="sldNum" sz="quarter" idx="5"/>
          </p:nvPr>
        </p:nvSpPr>
        <p:spPr/>
        <p:txBody>
          <a:bodyPr/>
          <a:lstStyle/>
          <a:p>
            <a:fld id="{8FE97B16-67DB-4DD9-8BD9-0AA22EA03353}" type="slidenum">
              <a:rPr lang="ru-RU" smtClean="0"/>
              <a:t>20</a:t>
            </a:fld>
            <a:endParaRPr lang="ru-RU"/>
          </a:p>
        </p:txBody>
      </p:sp>
    </p:spTree>
    <p:extLst>
      <p:ext uri="{BB962C8B-B14F-4D97-AF65-F5344CB8AC3E}">
        <p14:creationId xmlns:p14="http://schemas.microsoft.com/office/powerpoint/2010/main" val="386309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Первый, самый простой, смириться и использовать новый синтаксис. Например, кортежи тоже имеют изменяемое состояние, но это никого особо не останавливает от их использования</a:t>
            </a:r>
          </a:p>
        </p:txBody>
      </p:sp>
      <p:sp>
        <p:nvSpPr>
          <p:cNvPr id="4" name="Номер слайда 3"/>
          <p:cNvSpPr>
            <a:spLocks noGrp="1"/>
          </p:cNvSpPr>
          <p:nvPr>
            <p:ph type="sldNum" sz="quarter" idx="5"/>
          </p:nvPr>
        </p:nvSpPr>
        <p:spPr/>
        <p:txBody>
          <a:bodyPr/>
          <a:lstStyle/>
          <a:p>
            <a:fld id="{8FE97B16-67DB-4DD9-8BD9-0AA22EA03353}" type="slidenum">
              <a:rPr lang="ru-RU" smtClean="0"/>
              <a:t>21</a:t>
            </a:fld>
            <a:endParaRPr lang="ru-RU"/>
          </a:p>
        </p:txBody>
      </p:sp>
    </p:spTree>
    <p:extLst>
      <p:ext uri="{BB962C8B-B14F-4D97-AF65-F5344CB8AC3E}">
        <p14:creationId xmlns:p14="http://schemas.microsoft.com/office/powerpoint/2010/main" val="456164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Второй вариант – подождать, когда команда по развитию языка решит добавить модификаторы при объявлении параметров конструктора. Это обсуждалось как в контексте основных конструкторов, так есть и предложение по добавлению модификатора </a:t>
            </a:r>
            <a:r>
              <a:rPr lang="en-US" dirty="0" err="1"/>
              <a:t>readonly</a:t>
            </a:r>
            <a:r>
              <a:rPr lang="en-US" dirty="0"/>
              <a:t> </a:t>
            </a:r>
            <a:r>
              <a:rPr lang="ru-RU"/>
              <a:t>для параметров в любом методе</a:t>
            </a:r>
            <a:endParaRPr lang="ru-RU" dirty="0"/>
          </a:p>
        </p:txBody>
      </p:sp>
      <p:sp>
        <p:nvSpPr>
          <p:cNvPr id="4" name="Номер слайда 3"/>
          <p:cNvSpPr>
            <a:spLocks noGrp="1"/>
          </p:cNvSpPr>
          <p:nvPr>
            <p:ph type="sldNum" sz="quarter" idx="5"/>
          </p:nvPr>
        </p:nvSpPr>
        <p:spPr/>
        <p:txBody>
          <a:bodyPr/>
          <a:lstStyle/>
          <a:p>
            <a:fld id="{8FE97B16-67DB-4DD9-8BD9-0AA22EA03353}" type="slidenum">
              <a:rPr lang="ru-RU" smtClean="0"/>
              <a:t>22</a:t>
            </a:fld>
            <a:endParaRPr lang="ru-RU"/>
          </a:p>
        </p:txBody>
      </p:sp>
    </p:spTree>
    <p:extLst>
      <p:ext uri="{BB962C8B-B14F-4D97-AF65-F5344CB8AC3E}">
        <p14:creationId xmlns:p14="http://schemas.microsoft.com/office/powerpoint/2010/main" val="821223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Ещё один вариант – использовать сторонний </a:t>
            </a:r>
            <a:r>
              <a:rPr lang="en-US" dirty="0"/>
              <a:t>source-</a:t>
            </a:r>
            <a:r>
              <a:rPr lang="ru-RU" dirty="0"/>
              <a:t>генератор, который автоматически сгенерирует поле с нужным наименованием, и выдаст ошибку, если будет использован параметр основного конструктора</a:t>
            </a:r>
          </a:p>
        </p:txBody>
      </p:sp>
      <p:sp>
        <p:nvSpPr>
          <p:cNvPr id="4" name="Номер слайда 3"/>
          <p:cNvSpPr>
            <a:spLocks noGrp="1"/>
          </p:cNvSpPr>
          <p:nvPr>
            <p:ph type="sldNum" sz="quarter" idx="5"/>
          </p:nvPr>
        </p:nvSpPr>
        <p:spPr/>
        <p:txBody>
          <a:bodyPr/>
          <a:lstStyle/>
          <a:p>
            <a:fld id="{8FE97B16-67DB-4DD9-8BD9-0AA22EA03353}" type="slidenum">
              <a:rPr lang="ru-RU" smtClean="0"/>
              <a:t>23</a:t>
            </a:fld>
            <a:endParaRPr lang="ru-RU"/>
          </a:p>
        </p:txBody>
      </p:sp>
    </p:spTree>
    <p:extLst>
      <p:ext uri="{BB962C8B-B14F-4D97-AF65-F5344CB8AC3E}">
        <p14:creationId xmlns:p14="http://schemas.microsoft.com/office/powerpoint/2010/main" val="3929517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Основной конструктор – не что-то уникальное в языках программирования, посмотрим, как его реализовали в других языках</a:t>
            </a:r>
          </a:p>
        </p:txBody>
      </p:sp>
      <p:sp>
        <p:nvSpPr>
          <p:cNvPr id="4" name="Номер слайда 3"/>
          <p:cNvSpPr>
            <a:spLocks noGrp="1"/>
          </p:cNvSpPr>
          <p:nvPr>
            <p:ph type="sldNum" sz="quarter" idx="5"/>
          </p:nvPr>
        </p:nvSpPr>
        <p:spPr/>
        <p:txBody>
          <a:bodyPr/>
          <a:lstStyle/>
          <a:p>
            <a:fld id="{8FE97B16-67DB-4DD9-8BD9-0AA22EA03353}" type="slidenum">
              <a:rPr lang="ru-RU" smtClean="0"/>
              <a:t>24</a:t>
            </a:fld>
            <a:endParaRPr lang="ru-RU"/>
          </a:p>
        </p:txBody>
      </p:sp>
    </p:spTree>
    <p:extLst>
      <p:ext uri="{BB962C8B-B14F-4D97-AF65-F5344CB8AC3E}">
        <p14:creationId xmlns:p14="http://schemas.microsoft.com/office/powerpoint/2010/main" val="8671164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Начнем с дружественного </a:t>
            </a:r>
            <a:r>
              <a:rPr lang="en-US" dirty="0"/>
              <a:t>F#. </a:t>
            </a:r>
            <a:r>
              <a:rPr lang="ru-RU" dirty="0"/>
              <a:t>После названия класса точно также указываем список параметров. Причем тип параметра указывать не обязательно, компилятор может сам его вывести из использования. Область видимости параметров – весь класс.</a:t>
            </a:r>
          </a:p>
          <a:p>
            <a:r>
              <a:rPr lang="ru-RU" dirty="0"/>
              <a:t>Через ключевое слово </a:t>
            </a:r>
            <a:r>
              <a:rPr lang="en-US" dirty="0"/>
              <a:t>let </a:t>
            </a:r>
            <a:r>
              <a:rPr lang="ru-RU" dirty="0"/>
              <a:t>можно объявить приватные поля и методы в классе.</a:t>
            </a:r>
            <a:r>
              <a:rPr lang="en-US" dirty="0"/>
              <a:t> </a:t>
            </a:r>
            <a:r>
              <a:rPr lang="ru-RU" dirty="0"/>
              <a:t>Через </a:t>
            </a:r>
            <a:r>
              <a:rPr lang="en-US" dirty="0"/>
              <a:t>do – </a:t>
            </a:r>
            <a:r>
              <a:rPr lang="ru-RU" dirty="0"/>
              <a:t>выполнить код.</a:t>
            </a:r>
          </a:p>
          <a:p>
            <a:r>
              <a:rPr lang="ru-RU" dirty="0"/>
              <a:t>Через </a:t>
            </a:r>
            <a:r>
              <a:rPr lang="en-US" dirty="0"/>
              <a:t>member </a:t>
            </a:r>
            <a:r>
              <a:rPr lang="ru-RU" dirty="0"/>
              <a:t>объявляются свойства и методы класса</a:t>
            </a:r>
          </a:p>
        </p:txBody>
      </p:sp>
      <p:sp>
        <p:nvSpPr>
          <p:cNvPr id="4" name="Номер слайда 3"/>
          <p:cNvSpPr>
            <a:spLocks noGrp="1"/>
          </p:cNvSpPr>
          <p:nvPr>
            <p:ph type="sldNum" sz="quarter" idx="5"/>
          </p:nvPr>
        </p:nvSpPr>
        <p:spPr/>
        <p:txBody>
          <a:bodyPr/>
          <a:lstStyle/>
          <a:p>
            <a:fld id="{8FE97B16-67DB-4DD9-8BD9-0AA22EA03353}" type="slidenum">
              <a:rPr lang="ru-RU" smtClean="0"/>
              <a:t>25</a:t>
            </a:fld>
            <a:endParaRPr lang="ru-RU"/>
          </a:p>
        </p:txBody>
      </p:sp>
    </p:spTree>
    <p:extLst>
      <p:ext uri="{BB962C8B-B14F-4D97-AF65-F5344CB8AC3E}">
        <p14:creationId xmlns:p14="http://schemas.microsoft.com/office/powerpoint/2010/main" val="28600534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a:t>
            </a:r>
            <a:r>
              <a:rPr lang="ru-RU" dirty="0" err="1"/>
              <a:t>котлине</a:t>
            </a:r>
            <a:r>
              <a:rPr lang="ru-RU" dirty="0"/>
              <a:t> тоже есть поддержка основных конструкторов. Есть синтаксис как для обычных параметров, так и для автоматических свойств. </a:t>
            </a:r>
            <a:endParaRPr lang="en-US" dirty="0"/>
          </a:p>
          <a:p>
            <a:r>
              <a:rPr lang="ru-RU" b="0" i="0" dirty="0">
                <a:solidFill>
                  <a:srgbClr val="333333"/>
                </a:solidFill>
                <a:effectLst/>
                <a:latin typeface="Open Sans" panose="020F0502020204030204" pitchFamily="34" charset="0"/>
              </a:rPr>
              <a:t>Свойства, объявленные в основном конструкторе, могут быть неизменяемые (</a:t>
            </a:r>
            <a:r>
              <a:rPr lang="ru-RU" dirty="0" err="1"/>
              <a:t>va</a:t>
            </a:r>
            <a:r>
              <a:rPr lang="en-US" dirty="0"/>
              <a:t>l</a:t>
            </a:r>
            <a:r>
              <a:rPr lang="ru-RU" b="0" i="0" dirty="0">
                <a:solidFill>
                  <a:srgbClr val="333333"/>
                </a:solidFill>
                <a:effectLst/>
                <a:latin typeface="Open Sans" panose="020F0502020204030204" pitchFamily="34" charset="0"/>
              </a:rPr>
              <a:t>) и изменяемые (</a:t>
            </a:r>
            <a:r>
              <a:rPr lang="ru-RU" dirty="0" err="1"/>
              <a:t>va</a:t>
            </a:r>
            <a:r>
              <a:rPr lang="en-US" dirty="0"/>
              <a:t>r</a:t>
            </a:r>
            <a:r>
              <a:rPr lang="ru-RU" b="0" i="0" dirty="0">
                <a:solidFill>
                  <a:srgbClr val="333333"/>
                </a:solidFill>
                <a:effectLst/>
                <a:latin typeface="Open Sans" panose="020F0502020204030204" pitchFamily="34" charset="0"/>
              </a:rPr>
              <a:t>).</a:t>
            </a:r>
            <a:endParaRPr lang="en-US" b="0" i="0" dirty="0">
              <a:solidFill>
                <a:srgbClr val="333333"/>
              </a:solidFill>
              <a:effectLst/>
              <a:latin typeface="Open Sans" panose="020F0502020204030204" pitchFamily="34" charset="0"/>
            </a:endParaRPr>
          </a:p>
          <a:p>
            <a:r>
              <a:rPr lang="ru-RU" b="0" i="0" dirty="0">
                <a:solidFill>
                  <a:srgbClr val="333333"/>
                </a:solidFill>
                <a:effectLst/>
                <a:latin typeface="Open Sans" panose="020F0502020204030204" pitchFamily="34" charset="0"/>
              </a:rPr>
              <a:t>В блоке </a:t>
            </a:r>
            <a:r>
              <a:rPr lang="en-US" b="0" i="0" dirty="0" err="1">
                <a:solidFill>
                  <a:srgbClr val="333333"/>
                </a:solidFill>
                <a:effectLst/>
                <a:latin typeface="Open Sans" panose="020F0502020204030204" pitchFamily="34" charset="0"/>
              </a:rPr>
              <a:t>init</a:t>
            </a:r>
            <a:r>
              <a:rPr lang="en-US" b="0" i="0" dirty="0">
                <a:solidFill>
                  <a:srgbClr val="333333"/>
                </a:solidFill>
                <a:effectLst/>
                <a:latin typeface="Open Sans" panose="020F0502020204030204" pitchFamily="34" charset="0"/>
              </a:rPr>
              <a:t> </a:t>
            </a:r>
            <a:r>
              <a:rPr lang="ru-RU" b="0" i="0" dirty="0">
                <a:solidFill>
                  <a:srgbClr val="333333"/>
                </a:solidFill>
                <a:effectLst/>
                <a:latin typeface="Open Sans" panose="020F0502020204030204" pitchFamily="34" charset="0"/>
              </a:rPr>
              <a:t>можно выполнить свой код</a:t>
            </a:r>
            <a:endParaRPr lang="ru-RU" dirty="0"/>
          </a:p>
        </p:txBody>
      </p:sp>
      <p:sp>
        <p:nvSpPr>
          <p:cNvPr id="4" name="Номер слайда 3"/>
          <p:cNvSpPr>
            <a:spLocks noGrp="1"/>
          </p:cNvSpPr>
          <p:nvPr>
            <p:ph type="sldNum" sz="quarter" idx="5"/>
          </p:nvPr>
        </p:nvSpPr>
        <p:spPr/>
        <p:txBody>
          <a:bodyPr/>
          <a:lstStyle/>
          <a:p>
            <a:fld id="{8FE97B16-67DB-4DD9-8BD9-0AA22EA03353}" type="slidenum">
              <a:rPr lang="ru-RU" smtClean="0"/>
              <a:t>26</a:t>
            </a:fld>
            <a:endParaRPr lang="ru-RU"/>
          </a:p>
        </p:txBody>
      </p:sp>
    </p:spTree>
    <p:extLst>
      <p:ext uri="{BB962C8B-B14F-4D97-AF65-F5344CB8AC3E}">
        <p14:creationId xmlns:p14="http://schemas.microsoft.com/office/powerpoint/2010/main" val="3533930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Подведем итог. Мы посмотрели на новую фичу двенадцатого </a:t>
            </a:r>
            <a:r>
              <a:rPr lang="en-US" dirty="0"/>
              <a:t>C# </a:t>
            </a:r>
            <a:r>
              <a:rPr lang="ru-RU" dirty="0"/>
              <a:t>«основной конструктор». Обсудили плюсы и минусы, возможные проблемы и решения. Какой вывод можно сделать?</a:t>
            </a:r>
          </a:p>
          <a:p>
            <a:r>
              <a:rPr lang="ru-RU" dirty="0"/>
              <a:t>К фиче есть вопросы, использовать её или нет – каждый решает сам. Сказать, что это </a:t>
            </a:r>
            <a:r>
              <a:rPr lang="en-US" dirty="0"/>
              <a:t>“must have”</a:t>
            </a:r>
            <a:r>
              <a:rPr lang="ru-RU" dirty="0"/>
              <a:t>, к сожалению нельзя.</a:t>
            </a:r>
          </a:p>
        </p:txBody>
      </p:sp>
      <p:sp>
        <p:nvSpPr>
          <p:cNvPr id="4" name="Номер слайда 3"/>
          <p:cNvSpPr>
            <a:spLocks noGrp="1"/>
          </p:cNvSpPr>
          <p:nvPr>
            <p:ph type="sldNum" sz="quarter" idx="5"/>
          </p:nvPr>
        </p:nvSpPr>
        <p:spPr/>
        <p:txBody>
          <a:bodyPr/>
          <a:lstStyle/>
          <a:p>
            <a:fld id="{8FE97B16-67DB-4DD9-8BD9-0AA22EA03353}" type="slidenum">
              <a:rPr lang="ru-RU" smtClean="0"/>
              <a:t>27</a:t>
            </a:fld>
            <a:endParaRPr lang="ru-RU"/>
          </a:p>
        </p:txBody>
      </p:sp>
    </p:spTree>
    <p:extLst>
      <p:ext uri="{BB962C8B-B14F-4D97-AF65-F5344CB8AC3E}">
        <p14:creationId xmlns:p14="http://schemas.microsoft.com/office/powerpoint/2010/main" val="2892208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тех, кто хочет познакомиться с темой поподробнее, я подобрал немного ссылок. Во первых, это само предложение по фиче и его обсуждение. Потом – обсуждение фичи после выпуска превью и после релиза. И напоследок официальная документация от Майкрософта</a:t>
            </a:r>
          </a:p>
        </p:txBody>
      </p:sp>
      <p:sp>
        <p:nvSpPr>
          <p:cNvPr id="4" name="Номер слайда 3"/>
          <p:cNvSpPr>
            <a:spLocks noGrp="1"/>
          </p:cNvSpPr>
          <p:nvPr>
            <p:ph type="sldNum" sz="quarter" idx="5"/>
          </p:nvPr>
        </p:nvSpPr>
        <p:spPr/>
        <p:txBody>
          <a:bodyPr/>
          <a:lstStyle/>
          <a:p>
            <a:fld id="{8FE97B16-67DB-4DD9-8BD9-0AA22EA03353}" type="slidenum">
              <a:rPr lang="ru-RU" smtClean="0"/>
              <a:t>28</a:t>
            </a:fld>
            <a:endParaRPr lang="ru-RU"/>
          </a:p>
        </p:txBody>
      </p:sp>
    </p:spTree>
    <p:extLst>
      <p:ext uri="{BB962C8B-B14F-4D97-AF65-F5344CB8AC3E}">
        <p14:creationId xmlns:p14="http://schemas.microsoft.com/office/powerpoint/2010/main" val="17231844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этом всё. Давайте перейдем к вопросам</a:t>
            </a:r>
          </a:p>
        </p:txBody>
      </p:sp>
      <p:sp>
        <p:nvSpPr>
          <p:cNvPr id="4" name="Номер слайда 3"/>
          <p:cNvSpPr>
            <a:spLocks noGrp="1"/>
          </p:cNvSpPr>
          <p:nvPr>
            <p:ph type="sldNum" sz="quarter" idx="5"/>
          </p:nvPr>
        </p:nvSpPr>
        <p:spPr/>
        <p:txBody>
          <a:bodyPr/>
          <a:lstStyle/>
          <a:p>
            <a:fld id="{8FE97B16-67DB-4DD9-8BD9-0AA22EA03353}" type="slidenum">
              <a:rPr lang="ru-RU" smtClean="0"/>
              <a:t>29</a:t>
            </a:fld>
            <a:endParaRPr lang="ru-RU"/>
          </a:p>
        </p:txBody>
      </p:sp>
    </p:spTree>
    <p:extLst>
      <p:ext uri="{BB962C8B-B14F-4D97-AF65-F5344CB8AC3E}">
        <p14:creationId xmlns:p14="http://schemas.microsoft.com/office/powerpoint/2010/main" val="921316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AB5E71-869D-9EA3-0C00-272D59110AED}"/>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445DAB4-A850-BEF6-4665-032A6CF29E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46D4B5C-B6B2-D582-0D9F-929070B70159}"/>
              </a:ext>
            </a:extLst>
          </p:cNvPr>
          <p:cNvSpPr>
            <a:spLocks noGrp="1"/>
          </p:cNvSpPr>
          <p:nvPr>
            <p:ph type="dt" sz="half" idx="10"/>
          </p:nvPr>
        </p:nvSpPr>
        <p:spPr/>
        <p:txBody>
          <a:bodyPr/>
          <a:lstStyle/>
          <a:p>
            <a:fld id="{D753AC7F-34ED-4988-AE8F-673C9BC02B5F}" type="datetime1">
              <a:rPr lang="ru-RU" smtClean="0"/>
              <a:t>29.02.2024</a:t>
            </a:fld>
            <a:endParaRPr lang="ru-RU"/>
          </a:p>
        </p:txBody>
      </p:sp>
      <p:sp>
        <p:nvSpPr>
          <p:cNvPr id="5" name="Нижний колонтитул 4">
            <a:extLst>
              <a:ext uri="{FF2B5EF4-FFF2-40B4-BE49-F238E27FC236}">
                <a16:creationId xmlns:a16="http://schemas.microsoft.com/office/drawing/2014/main" id="{75D23C53-03FE-23B3-935F-EA38D34ED59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D8D91D2-B66A-0A29-2360-BAC87883ED32}"/>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2161867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E5B4CD-F833-7C2C-9D19-B43AC0ADD14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4A8268C-DAF5-5D7D-3FA6-401D6D18150B}"/>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1D43C3B-E5A2-C3D9-F4F7-85A27C92553A}"/>
              </a:ext>
            </a:extLst>
          </p:cNvPr>
          <p:cNvSpPr>
            <a:spLocks noGrp="1"/>
          </p:cNvSpPr>
          <p:nvPr>
            <p:ph type="dt" sz="half" idx="10"/>
          </p:nvPr>
        </p:nvSpPr>
        <p:spPr/>
        <p:txBody>
          <a:bodyPr/>
          <a:lstStyle/>
          <a:p>
            <a:fld id="{35538C0C-546B-45EF-91B3-6CE7FC54DB2E}" type="datetime1">
              <a:rPr lang="ru-RU" smtClean="0"/>
              <a:t>29.02.2024</a:t>
            </a:fld>
            <a:endParaRPr lang="ru-RU"/>
          </a:p>
        </p:txBody>
      </p:sp>
      <p:sp>
        <p:nvSpPr>
          <p:cNvPr id="5" name="Нижний колонтитул 4">
            <a:extLst>
              <a:ext uri="{FF2B5EF4-FFF2-40B4-BE49-F238E27FC236}">
                <a16:creationId xmlns:a16="http://schemas.microsoft.com/office/drawing/2014/main" id="{B80B924D-8607-0C91-986C-A0D47F1C305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6E7870D-3D09-936B-5C8C-4642E78DD97C}"/>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3558970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B4DEC8-07B7-3D32-6831-17FB929B9AB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5A32F577-D725-E311-096E-28069FA74B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9A5ECC8F-B94C-FF42-E340-620AAE175EDC}"/>
              </a:ext>
            </a:extLst>
          </p:cNvPr>
          <p:cNvSpPr>
            <a:spLocks noGrp="1"/>
          </p:cNvSpPr>
          <p:nvPr>
            <p:ph type="dt" sz="half" idx="10"/>
          </p:nvPr>
        </p:nvSpPr>
        <p:spPr/>
        <p:txBody>
          <a:bodyPr/>
          <a:lstStyle/>
          <a:p>
            <a:fld id="{C3460902-2498-49D6-A342-C9A909646216}" type="datetime1">
              <a:rPr lang="ru-RU" smtClean="0"/>
              <a:t>29.02.2024</a:t>
            </a:fld>
            <a:endParaRPr lang="ru-RU"/>
          </a:p>
        </p:txBody>
      </p:sp>
      <p:sp>
        <p:nvSpPr>
          <p:cNvPr id="5" name="Нижний колонтитул 4">
            <a:extLst>
              <a:ext uri="{FF2B5EF4-FFF2-40B4-BE49-F238E27FC236}">
                <a16:creationId xmlns:a16="http://schemas.microsoft.com/office/drawing/2014/main" id="{003026E5-3ED3-E805-8452-23E02F77505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41F8264-E557-15A9-6170-EEFDDA889048}"/>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807534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9A9CAD-BB07-E0B2-DEA7-4CA7EF5D17B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9840C4B-E987-54AE-18B9-656CB2C3654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87EB831-E238-F238-D2BD-CCAA0A5EABC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22D6F1C-5FC1-F9E9-BDAE-6C683BF71DCF}"/>
              </a:ext>
            </a:extLst>
          </p:cNvPr>
          <p:cNvSpPr>
            <a:spLocks noGrp="1"/>
          </p:cNvSpPr>
          <p:nvPr>
            <p:ph type="dt" sz="half" idx="10"/>
          </p:nvPr>
        </p:nvSpPr>
        <p:spPr/>
        <p:txBody>
          <a:bodyPr/>
          <a:lstStyle/>
          <a:p>
            <a:fld id="{58FDB8AA-8B1D-4965-BF69-915FABE3784D}" type="datetime1">
              <a:rPr lang="ru-RU" smtClean="0"/>
              <a:t>29.02.2024</a:t>
            </a:fld>
            <a:endParaRPr lang="ru-RU"/>
          </a:p>
        </p:txBody>
      </p:sp>
      <p:sp>
        <p:nvSpPr>
          <p:cNvPr id="6" name="Нижний колонтитул 5">
            <a:extLst>
              <a:ext uri="{FF2B5EF4-FFF2-40B4-BE49-F238E27FC236}">
                <a16:creationId xmlns:a16="http://schemas.microsoft.com/office/drawing/2014/main" id="{D09EDB9E-9CDE-42CE-61EC-69BFC9B39CC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2F49E63-3D78-3AD4-98B5-5F3FDD537943}"/>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122787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A87BC9-E7A4-6432-7DAB-D2F50F9104DC}"/>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10E7075B-FBAA-F10F-72E7-7D3A8B8863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BE38A65-ACCE-562A-99D6-83216FD4D29D}"/>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61BAC3F-70A5-C23B-253A-568FBB0766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F2DFD0B-DAE3-F9BC-8F22-CB89A9B72305}"/>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A985B52-2D02-FC13-D5A7-AD901ADA79CE}"/>
              </a:ext>
            </a:extLst>
          </p:cNvPr>
          <p:cNvSpPr>
            <a:spLocks noGrp="1"/>
          </p:cNvSpPr>
          <p:nvPr>
            <p:ph type="dt" sz="half" idx="10"/>
          </p:nvPr>
        </p:nvSpPr>
        <p:spPr/>
        <p:txBody>
          <a:bodyPr/>
          <a:lstStyle/>
          <a:p>
            <a:fld id="{60B3B42C-484D-4056-A2F0-57D319385A37}" type="datetime1">
              <a:rPr lang="ru-RU" smtClean="0"/>
              <a:t>29.02.2024</a:t>
            </a:fld>
            <a:endParaRPr lang="ru-RU"/>
          </a:p>
        </p:txBody>
      </p:sp>
      <p:sp>
        <p:nvSpPr>
          <p:cNvPr id="8" name="Нижний колонтитул 7">
            <a:extLst>
              <a:ext uri="{FF2B5EF4-FFF2-40B4-BE49-F238E27FC236}">
                <a16:creationId xmlns:a16="http://schemas.microsoft.com/office/drawing/2014/main" id="{77AC5F42-3883-0CAF-DE01-9FA10C56D3D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D0E34AF-6C3E-361E-DCB1-8BC0A46BDD97}"/>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199879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CE909A-CADF-E041-378A-9427EE31774A}"/>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D3259570-3785-3A3A-E405-87C84380C2BF}"/>
              </a:ext>
            </a:extLst>
          </p:cNvPr>
          <p:cNvSpPr>
            <a:spLocks noGrp="1"/>
          </p:cNvSpPr>
          <p:nvPr>
            <p:ph type="dt" sz="half" idx="10"/>
          </p:nvPr>
        </p:nvSpPr>
        <p:spPr/>
        <p:txBody>
          <a:bodyPr/>
          <a:lstStyle/>
          <a:p>
            <a:fld id="{9C8AF5BB-C73D-40EE-8133-C9ED91A6B7E7}" type="datetime1">
              <a:rPr lang="ru-RU" smtClean="0"/>
              <a:t>29.02.2024</a:t>
            </a:fld>
            <a:endParaRPr lang="ru-RU"/>
          </a:p>
        </p:txBody>
      </p:sp>
      <p:sp>
        <p:nvSpPr>
          <p:cNvPr id="4" name="Нижний колонтитул 3">
            <a:extLst>
              <a:ext uri="{FF2B5EF4-FFF2-40B4-BE49-F238E27FC236}">
                <a16:creationId xmlns:a16="http://schemas.microsoft.com/office/drawing/2014/main" id="{05141DDE-6B1C-892B-EC95-CB39A16D382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18DF220-6BCC-EEC9-728B-D95CC2A1C1C6}"/>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898084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5773D05E-3FFC-B9C5-F7C4-64E1E78EF0B6}"/>
              </a:ext>
            </a:extLst>
          </p:cNvPr>
          <p:cNvSpPr>
            <a:spLocks noGrp="1"/>
          </p:cNvSpPr>
          <p:nvPr>
            <p:ph type="dt" sz="half" idx="10"/>
          </p:nvPr>
        </p:nvSpPr>
        <p:spPr/>
        <p:txBody>
          <a:bodyPr/>
          <a:lstStyle/>
          <a:p>
            <a:fld id="{4E4CA2C8-164B-46AE-B0A3-BFA4F8B64E2F}" type="datetime1">
              <a:rPr lang="ru-RU" smtClean="0"/>
              <a:t>29.02.2024</a:t>
            </a:fld>
            <a:endParaRPr lang="ru-RU"/>
          </a:p>
        </p:txBody>
      </p:sp>
      <p:sp>
        <p:nvSpPr>
          <p:cNvPr id="3" name="Нижний колонтитул 2">
            <a:extLst>
              <a:ext uri="{FF2B5EF4-FFF2-40B4-BE49-F238E27FC236}">
                <a16:creationId xmlns:a16="http://schemas.microsoft.com/office/drawing/2014/main" id="{218C9355-FCF0-2FE1-76E6-57DF6A503A5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B562870-F2A0-52AC-4E0C-2D75D903C47B}"/>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1858295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65ED86-FEA4-74DD-005F-AFEDF80EE91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9A248D00-DDA0-1B6D-4C67-C15BCCFDC5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802FD59-74EF-B6B9-C0DD-7588CDEEEB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ECA1A04-7D06-E31C-2FE2-F8D7F2977E89}"/>
              </a:ext>
            </a:extLst>
          </p:cNvPr>
          <p:cNvSpPr>
            <a:spLocks noGrp="1"/>
          </p:cNvSpPr>
          <p:nvPr>
            <p:ph type="dt" sz="half" idx="10"/>
          </p:nvPr>
        </p:nvSpPr>
        <p:spPr/>
        <p:txBody>
          <a:bodyPr/>
          <a:lstStyle/>
          <a:p>
            <a:fld id="{57A196D1-A51C-4738-8E59-8FD1CA5A1CF9}" type="datetime1">
              <a:rPr lang="ru-RU" smtClean="0"/>
              <a:t>29.02.2024</a:t>
            </a:fld>
            <a:endParaRPr lang="ru-RU"/>
          </a:p>
        </p:txBody>
      </p:sp>
      <p:sp>
        <p:nvSpPr>
          <p:cNvPr id="6" name="Нижний колонтитул 5">
            <a:extLst>
              <a:ext uri="{FF2B5EF4-FFF2-40B4-BE49-F238E27FC236}">
                <a16:creationId xmlns:a16="http://schemas.microsoft.com/office/drawing/2014/main" id="{6F665BC3-A2AA-1729-2EEA-A0F64C98EBB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E5C5E95-8E01-79E1-E188-4E0FCE5AC7E8}"/>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3363824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215AB5-D7A0-1ADB-D2DE-533CBF5BA63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82B650A5-B6EC-DA0D-81C4-87CED4A90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1A6AF51-E199-44BD-BC34-9FE6A9A99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51E80BB-1970-E374-BDCD-32FF3D658B74}"/>
              </a:ext>
            </a:extLst>
          </p:cNvPr>
          <p:cNvSpPr>
            <a:spLocks noGrp="1"/>
          </p:cNvSpPr>
          <p:nvPr>
            <p:ph type="dt" sz="half" idx="10"/>
          </p:nvPr>
        </p:nvSpPr>
        <p:spPr/>
        <p:txBody>
          <a:bodyPr/>
          <a:lstStyle/>
          <a:p>
            <a:fld id="{37D213B3-E897-4E7B-A9E7-89D75E957490}" type="datetime1">
              <a:rPr lang="ru-RU" smtClean="0"/>
              <a:t>29.02.2024</a:t>
            </a:fld>
            <a:endParaRPr lang="ru-RU"/>
          </a:p>
        </p:txBody>
      </p:sp>
      <p:sp>
        <p:nvSpPr>
          <p:cNvPr id="6" name="Нижний колонтитул 5">
            <a:extLst>
              <a:ext uri="{FF2B5EF4-FFF2-40B4-BE49-F238E27FC236}">
                <a16:creationId xmlns:a16="http://schemas.microsoft.com/office/drawing/2014/main" id="{BB45277F-4AC0-2645-CBB5-7ED60CCE679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35E36CD-3AC9-C210-8692-FD5133ED1CAD}"/>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2068713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30AD22-E59F-C810-BDD1-1C105A4B8D23}"/>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B302AC1-7AF0-0617-2D1D-BD181B2B40CB}"/>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5139A1B-B4C8-8E6A-63DE-80498595A52D}"/>
              </a:ext>
            </a:extLst>
          </p:cNvPr>
          <p:cNvSpPr>
            <a:spLocks noGrp="1"/>
          </p:cNvSpPr>
          <p:nvPr>
            <p:ph type="dt" sz="half" idx="10"/>
          </p:nvPr>
        </p:nvSpPr>
        <p:spPr/>
        <p:txBody>
          <a:bodyPr/>
          <a:lstStyle/>
          <a:p>
            <a:fld id="{F0551742-37BB-4430-AC24-F26C99B9900A}" type="datetime1">
              <a:rPr lang="ru-RU" smtClean="0"/>
              <a:t>29.02.2024</a:t>
            </a:fld>
            <a:endParaRPr lang="ru-RU"/>
          </a:p>
        </p:txBody>
      </p:sp>
      <p:sp>
        <p:nvSpPr>
          <p:cNvPr id="5" name="Нижний колонтитул 4">
            <a:extLst>
              <a:ext uri="{FF2B5EF4-FFF2-40B4-BE49-F238E27FC236}">
                <a16:creationId xmlns:a16="http://schemas.microsoft.com/office/drawing/2014/main" id="{10325CB3-8A25-8AB4-67B0-3E1B8A6A2FE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D7F03F9-7D70-3E05-9F65-79E367D7B40C}"/>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790545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AE93E67-063A-2850-8312-91197D32C1F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FE7974AB-100B-7A1C-A338-17525DD4046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DE47479-A7D5-D301-C472-1182648E3894}"/>
              </a:ext>
            </a:extLst>
          </p:cNvPr>
          <p:cNvSpPr>
            <a:spLocks noGrp="1"/>
          </p:cNvSpPr>
          <p:nvPr>
            <p:ph type="dt" sz="half" idx="10"/>
          </p:nvPr>
        </p:nvSpPr>
        <p:spPr/>
        <p:txBody>
          <a:bodyPr/>
          <a:lstStyle/>
          <a:p>
            <a:fld id="{126A598D-8867-450C-B2DF-01CC767924A8}" type="datetime1">
              <a:rPr lang="ru-RU" smtClean="0"/>
              <a:t>29.02.2024</a:t>
            </a:fld>
            <a:endParaRPr lang="ru-RU"/>
          </a:p>
        </p:txBody>
      </p:sp>
      <p:sp>
        <p:nvSpPr>
          <p:cNvPr id="5" name="Нижний колонтитул 4">
            <a:extLst>
              <a:ext uri="{FF2B5EF4-FFF2-40B4-BE49-F238E27FC236}">
                <a16:creationId xmlns:a16="http://schemas.microsoft.com/office/drawing/2014/main" id="{57418402-980C-66C2-7B10-DE2153BE6FC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287409D-05E1-6D8F-EDA6-E5F852EFB695}"/>
              </a:ext>
            </a:extLst>
          </p:cNvPr>
          <p:cNvSpPr>
            <a:spLocks noGrp="1"/>
          </p:cNvSpPr>
          <p:nvPr>
            <p:ph type="sldNum" sz="quarter" idx="12"/>
          </p:nvPr>
        </p:nvSpPr>
        <p:spPr/>
        <p:txBody>
          <a:bodyPr/>
          <a:lstStyle/>
          <a:p>
            <a:fld id="{F8C669BE-477D-42CA-A759-78A8F38A317E}" type="slidenum">
              <a:rPr lang="ru-RU" smtClean="0"/>
              <a:t>‹#›</a:t>
            </a:fld>
            <a:endParaRPr lang="ru-RU"/>
          </a:p>
        </p:txBody>
      </p:sp>
    </p:spTree>
    <p:extLst>
      <p:ext uri="{BB962C8B-B14F-4D97-AF65-F5344CB8AC3E}">
        <p14:creationId xmlns:p14="http://schemas.microsoft.com/office/powerpoint/2010/main" val="2571360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BF24E3-E04B-EB2D-E4C3-3F6A222E18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9577EB9B-E82E-CDB2-485B-02EE494717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C3022AF-AB16-0A0E-D948-7C582E4CE2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A3EA09-DE92-474F-8D13-F7D049D03F03}" type="datetime1">
              <a:rPr lang="ru-RU" smtClean="0"/>
              <a:t>29.02.2024</a:t>
            </a:fld>
            <a:endParaRPr lang="ru-RU"/>
          </a:p>
        </p:txBody>
      </p:sp>
      <p:sp>
        <p:nvSpPr>
          <p:cNvPr id="5" name="Нижний колонтитул 4">
            <a:extLst>
              <a:ext uri="{FF2B5EF4-FFF2-40B4-BE49-F238E27FC236}">
                <a16:creationId xmlns:a16="http://schemas.microsoft.com/office/drawing/2014/main" id="{D8C2DD41-3EBC-1732-EB08-8502EA056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BEF43E7C-FEF4-A12A-AF4E-E88C0C1019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C669BE-477D-42CA-A759-78A8F38A317E}" type="slidenum">
              <a:rPr lang="ru-RU" smtClean="0"/>
              <a:t>‹#›</a:t>
            </a:fld>
            <a:endParaRPr lang="ru-RU"/>
          </a:p>
        </p:txBody>
      </p:sp>
    </p:spTree>
    <p:extLst>
      <p:ext uri="{BB962C8B-B14F-4D97-AF65-F5344CB8AC3E}">
        <p14:creationId xmlns:p14="http://schemas.microsoft.com/office/powerpoint/2010/main" val="2033879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ru-ru/dotnet/csharp/whats-new/csharp-12"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learn.microsoft.com/ru-ru/dotnet/csharp/whats-new/tutorials/primary-constructor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dotnet/csharplang/blob/main/proposals/csharp-12.0/primary-constructors.m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dotnet/csharp/language-reference/proposals/csharp-12.0/primary-constructors#double-storage-warnings"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dotnet/csharplang/blob/main/proposals/csharp-12.0/primary-constructors.md#explicit-generated-field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dotnet/csharplang/blob/main/meetings/2023/LDM-2023-07-26.md"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github.com/dotnet/csharplang/blob/main/meetings/2023/LDM-2023-07-31.md"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FaustVX/PrimaryParameter"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learn.microsoft.com/en-us/dotnet/fsharp/language-reference/members/constructor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fsharpforfunandprofit.com/posts/classes/"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kotlinlang.org/docs/classes.html#constructors"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learn.microsoft.com/en-us/dotnet/csharp/programming-guide/classes-and-structs/instance-constructors#primary-constructors" TargetMode="External"/><Relationship Id="rId3" Type="http://schemas.openxmlformats.org/officeDocument/2006/relationships/hyperlink" Target="https://github.com/dotnet/csharplang/blob/main/proposals/csharp-12.0/primary-constructors.md" TargetMode="External"/><Relationship Id="rId7" Type="http://schemas.openxmlformats.org/officeDocument/2006/relationships/hyperlink" Target="https://learn.microsoft.com/en-us/dotnet/csharp/whats-new/tutorials/primary-constructor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github.com/dotnet/csharplang/discussions/7667" TargetMode="External"/><Relationship Id="rId5" Type="http://schemas.openxmlformats.org/officeDocument/2006/relationships/hyperlink" Target="https://github.com/dotnet/csharplang/discussions/7109" TargetMode="External"/><Relationship Id="rId4" Type="http://schemas.openxmlformats.org/officeDocument/2006/relationships/hyperlink" Target="https://github.com/dotnet/csharplang/issues/2691"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t.me/mister_m0j0"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hyperlink" Target="https://github.com/m0j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129BB3-9248-1EBA-9B3A-701EE4EC6F6F}"/>
              </a:ext>
            </a:extLst>
          </p:cNvPr>
          <p:cNvSpPr>
            <a:spLocks noGrp="1"/>
          </p:cNvSpPr>
          <p:nvPr>
            <p:ph type="ctrTitle"/>
          </p:nvPr>
        </p:nvSpPr>
        <p:spPr/>
        <p:txBody>
          <a:bodyPr/>
          <a:lstStyle/>
          <a:p>
            <a:r>
              <a:rPr lang="en-US" dirty="0"/>
              <a:t>C# 12</a:t>
            </a:r>
            <a:br>
              <a:rPr lang="en-US" dirty="0"/>
            </a:br>
            <a:r>
              <a:rPr lang="en-US" dirty="0"/>
              <a:t>Primary constructors</a:t>
            </a:r>
            <a:endParaRPr lang="ru-RU" dirty="0"/>
          </a:p>
        </p:txBody>
      </p:sp>
      <p:sp>
        <p:nvSpPr>
          <p:cNvPr id="3" name="Подзаголовок 2">
            <a:extLst>
              <a:ext uri="{FF2B5EF4-FFF2-40B4-BE49-F238E27FC236}">
                <a16:creationId xmlns:a16="http://schemas.microsoft.com/office/drawing/2014/main" id="{9F130BD6-2EE1-777D-8FB9-5C6927803C4B}"/>
              </a:ext>
            </a:extLst>
          </p:cNvPr>
          <p:cNvSpPr>
            <a:spLocks noGrp="1"/>
          </p:cNvSpPr>
          <p:nvPr>
            <p:ph type="subTitle" idx="1"/>
          </p:nvPr>
        </p:nvSpPr>
        <p:spPr>
          <a:xfrm>
            <a:off x="1524000" y="4993178"/>
            <a:ext cx="9144000" cy="1318952"/>
          </a:xfrm>
        </p:spPr>
        <p:txBody>
          <a:bodyPr anchor="b">
            <a:normAutofit/>
          </a:bodyPr>
          <a:lstStyle/>
          <a:p>
            <a:pPr algn="r"/>
            <a:r>
              <a:rPr lang="ru-RU" sz="3600" dirty="0"/>
              <a:t>Никита Маслов</a:t>
            </a:r>
          </a:p>
        </p:txBody>
      </p:sp>
      <p:sp>
        <p:nvSpPr>
          <p:cNvPr id="4" name="Номер слайда 3">
            <a:extLst>
              <a:ext uri="{FF2B5EF4-FFF2-40B4-BE49-F238E27FC236}">
                <a16:creationId xmlns:a16="http://schemas.microsoft.com/office/drawing/2014/main" id="{02FCDFCE-5EBB-57C4-7160-09E2469D114D}"/>
              </a:ext>
            </a:extLst>
          </p:cNvPr>
          <p:cNvSpPr>
            <a:spLocks noGrp="1"/>
          </p:cNvSpPr>
          <p:nvPr>
            <p:ph type="sldNum" sz="quarter" idx="12"/>
          </p:nvPr>
        </p:nvSpPr>
        <p:spPr/>
        <p:txBody>
          <a:bodyPr/>
          <a:lstStyle/>
          <a:p>
            <a:fld id="{F8C669BE-477D-42CA-A759-78A8F38A317E}" type="slidenum">
              <a:rPr lang="ru-RU" smtClean="0"/>
              <a:t>1</a:t>
            </a:fld>
            <a:endParaRPr lang="ru-RU"/>
          </a:p>
        </p:txBody>
      </p:sp>
    </p:spTree>
    <p:extLst>
      <p:ext uri="{BB962C8B-B14F-4D97-AF65-F5344CB8AC3E}">
        <p14:creationId xmlns:p14="http://schemas.microsoft.com/office/powerpoint/2010/main" val="220321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F251AE-F42C-AD57-F44E-09EB1E0DB31A}"/>
              </a:ext>
            </a:extLst>
          </p:cNvPr>
          <p:cNvSpPr>
            <a:spLocks noGrp="1"/>
          </p:cNvSpPr>
          <p:nvPr>
            <p:ph type="title"/>
          </p:nvPr>
        </p:nvSpPr>
        <p:spPr/>
        <p:txBody>
          <a:bodyPr/>
          <a:lstStyle/>
          <a:p>
            <a:r>
              <a:rPr lang="ru-RU" dirty="0"/>
              <a:t>Основные конструкторы</a:t>
            </a:r>
          </a:p>
        </p:txBody>
      </p:sp>
      <p:sp>
        <p:nvSpPr>
          <p:cNvPr id="3" name="Объект 2">
            <a:extLst>
              <a:ext uri="{FF2B5EF4-FFF2-40B4-BE49-F238E27FC236}">
                <a16:creationId xmlns:a16="http://schemas.microsoft.com/office/drawing/2014/main" id="{74CEFBF3-801A-C1EE-7E41-F672C687C8F0}"/>
              </a:ext>
            </a:extLst>
          </p:cNvPr>
          <p:cNvSpPr>
            <a:spLocks noGrp="1"/>
          </p:cNvSpPr>
          <p:nvPr>
            <p:ph idx="1"/>
          </p:nvPr>
        </p:nvSpPr>
        <p:spPr/>
        <p:txBody>
          <a:bodyPr/>
          <a:lstStyle/>
          <a:p>
            <a:pPr marL="0" indent="0">
              <a:buNone/>
            </a:pPr>
            <a:r>
              <a:rPr lang="en-US" dirty="0">
                <a:hlinkClick r:id="rId3"/>
              </a:rPr>
              <a:t>https://learn.microsoft.com/ru-ru/dotnet/csharp/whats-new/csharp-12</a:t>
            </a:r>
            <a:r>
              <a:rPr lang="ru-RU" dirty="0"/>
              <a:t> </a:t>
            </a:r>
          </a:p>
          <a:p>
            <a:pPr marL="0" indent="0">
              <a:buNone/>
            </a:pPr>
            <a:r>
              <a:rPr lang="en-US" dirty="0">
                <a:hlinkClick r:id="rId4"/>
              </a:rPr>
              <a:t>https://learn.microsoft.com/ru-ru/dotnet/csharp/whats-new/tutorials/primary-constructors</a:t>
            </a:r>
            <a:r>
              <a:rPr lang="ru-RU" dirty="0"/>
              <a:t> </a:t>
            </a:r>
          </a:p>
        </p:txBody>
      </p:sp>
      <p:sp>
        <p:nvSpPr>
          <p:cNvPr id="4" name="Номер слайда 3">
            <a:extLst>
              <a:ext uri="{FF2B5EF4-FFF2-40B4-BE49-F238E27FC236}">
                <a16:creationId xmlns:a16="http://schemas.microsoft.com/office/drawing/2014/main" id="{95B957E6-FF61-3A43-FFBC-7310F252D039}"/>
              </a:ext>
            </a:extLst>
          </p:cNvPr>
          <p:cNvSpPr>
            <a:spLocks noGrp="1"/>
          </p:cNvSpPr>
          <p:nvPr>
            <p:ph type="sldNum" sz="quarter" idx="12"/>
          </p:nvPr>
        </p:nvSpPr>
        <p:spPr/>
        <p:txBody>
          <a:bodyPr/>
          <a:lstStyle/>
          <a:p>
            <a:fld id="{F8C669BE-477D-42CA-A759-78A8F38A317E}" type="slidenum">
              <a:rPr lang="ru-RU" smtClean="0"/>
              <a:t>2</a:t>
            </a:fld>
            <a:endParaRPr lang="ru-RU"/>
          </a:p>
        </p:txBody>
      </p:sp>
    </p:spTree>
    <p:extLst>
      <p:ext uri="{BB962C8B-B14F-4D97-AF65-F5344CB8AC3E}">
        <p14:creationId xmlns:p14="http://schemas.microsoft.com/office/powerpoint/2010/main" val="1586043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B0DAA4D-C83A-41F1-F529-AD0CEAC0AA96}"/>
              </a:ext>
            </a:extLst>
          </p:cNvPr>
          <p:cNvSpPr>
            <a:spLocks noGrp="1"/>
          </p:cNvSpPr>
          <p:nvPr>
            <p:ph type="title"/>
          </p:nvPr>
        </p:nvSpPr>
        <p:spPr/>
        <p:txBody>
          <a:bodyPr/>
          <a:lstStyle/>
          <a:p>
            <a:r>
              <a:rPr lang="en-US" dirty="0"/>
              <a:t>Record primary constructors</a:t>
            </a:r>
            <a:endParaRPr lang="ru-RU" dirty="0"/>
          </a:p>
        </p:txBody>
      </p:sp>
      <p:sp>
        <p:nvSpPr>
          <p:cNvPr id="5" name="Объект 4">
            <a:extLst>
              <a:ext uri="{FF2B5EF4-FFF2-40B4-BE49-F238E27FC236}">
                <a16:creationId xmlns:a16="http://schemas.microsoft.com/office/drawing/2014/main" id="{2FDD1A2B-67AF-37A3-AEF9-86928BAD4024}"/>
              </a:ext>
            </a:extLst>
          </p:cNvPr>
          <p:cNvSpPr>
            <a:spLocks noGrp="1"/>
          </p:cNvSpPr>
          <p:nvPr>
            <p:ph sz="half" idx="1"/>
          </p:nvPr>
        </p:nvSpPr>
        <p:spPr>
          <a:xfrm>
            <a:off x="838200" y="1825625"/>
            <a:ext cx="3656215" cy="4351338"/>
          </a:xfrm>
        </p:spPr>
        <p:txBody>
          <a:bodyPr>
            <a:normAutofit/>
          </a:bodyPr>
          <a:lstStyle/>
          <a:p>
            <a:pPr marL="0" indent="0">
              <a:buNone/>
            </a:pPr>
            <a:r>
              <a:rPr lang="en-US" sz="1800" dirty="0">
                <a:solidFill>
                  <a:srgbClr val="0000FF"/>
                </a:solidFill>
                <a:latin typeface="Consolas" panose="020B0609020204030204" pitchFamily="49" charset="0"/>
              </a:rPr>
              <a:t>record</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Person</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Age);</a:t>
            </a:r>
            <a:endParaRPr lang="ru-RU" dirty="0">
              <a:latin typeface="Consolas" panose="020B0609020204030204" pitchFamily="49" charset="0"/>
            </a:endParaRPr>
          </a:p>
        </p:txBody>
      </p:sp>
      <p:sp>
        <p:nvSpPr>
          <p:cNvPr id="6" name="Объект 5">
            <a:extLst>
              <a:ext uri="{FF2B5EF4-FFF2-40B4-BE49-F238E27FC236}">
                <a16:creationId xmlns:a16="http://schemas.microsoft.com/office/drawing/2014/main" id="{50E6703B-0BC0-3225-1B28-E5C0D49D8C80}"/>
              </a:ext>
            </a:extLst>
          </p:cNvPr>
          <p:cNvSpPr>
            <a:spLocks noGrp="1"/>
          </p:cNvSpPr>
          <p:nvPr>
            <p:ph sz="half" idx="2"/>
          </p:nvPr>
        </p:nvSpPr>
        <p:spPr>
          <a:xfrm>
            <a:off x="4871258" y="1825625"/>
            <a:ext cx="6482542" cy="4351338"/>
          </a:xfrm>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int &lt;Age&gt;k__</a:t>
            </a:r>
            <a:r>
              <a:rPr lang="en-US" sz="1800" b="0" dirty="0" err="1">
                <a:solidFill>
                  <a:srgbClr val="3B3B3B"/>
                </a:solidFill>
                <a:effectLst/>
                <a:latin typeface="Consolas" panose="020B0609020204030204" pitchFamily="49" charset="0"/>
              </a:rPr>
              <a:t>BackingField</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get</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k__</a:t>
            </a:r>
            <a:r>
              <a:rPr lang="en-US" sz="1800" b="0" dirty="0" err="1">
                <a:solidFill>
                  <a:srgbClr val="001080"/>
                </a:solidFill>
                <a:effectLst/>
                <a:latin typeface="Consolas" panose="020B0609020204030204" pitchFamily="49" charset="0"/>
              </a:rPr>
              <a:t>BackingField</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init</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k__</a:t>
            </a:r>
            <a:r>
              <a:rPr lang="en-US" sz="1800" b="0" dirty="0" err="1">
                <a:solidFill>
                  <a:srgbClr val="001080"/>
                </a:solidFill>
                <a:effectLst/>
                <a:latin typeface="Consolas" panose="020B0609020204030204" pitchFamily="49" charset="0"/>
              </a:rPr>
              <a:t>BackingField</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value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795E26"/>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k__</a:t>
            </a:r>
            <a:r>
              <a:rPr lang="en-US" sz="1800" b="0" dirty="0" err="1">
                <a:solidFill>
                  <a:srgbClr val="001080"/>
                </a:solidFill>
                <a:effectLst/>
                <a:latin typeface="Consolas" panose="020B0609020204030204" pitchFamily="49" charset="0"/>
              </a:rPr>
              <a:t>BackingField</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2" name="Номер слайда 1">
            <a:extLst>
              <a:ext uri="{FF2B5EF4-FFF2-40B4-BE49-F238E27FC236}">
                <a16:creationId xmlns:a16="http://schemas.microsoft.com/office/drawing/2014/main" id="{0BE4B677-C228-7BA3-C711-B1AAD0A686AA}"/>
              </a:ext>
            </a:extLst>
          </p:cNvPr>
          <p:cNvSpPr>
            <a:spLocks noGrp="1"/>
          </p:cNvSpPr>
          <p:nvPr>
            <p:ph type="sldNum" sz="quarter" idx="12"/>
          </p:nvPr>
        </p:nvSpPr>
        <p:spPr/>
        <p:txBody>
          <a:bodyPr/>
          <a:lstStyle/>
          <a:p>
            <a:fld id="{F8C669BE-477D-42CA-A759-78A8F38A317E}" type="slidenum">
              <a:rPr lang="ru-RU" smtClean="0"/>
              <a:t>3</a:t>
            </a:fld>
            <a:endParaRPr lang="ru-RU"/>
          </a:p>
        </p:txBody>
      </p:sp>
    </p:spTree>
    <p:extLst>
      <p:ext uri="{BB962C8B-B14F-4D97-AF65-F5344CB8AC3E}">
        <p14:creationId xmlns:p14="http://schemas.microsoft.com/office/powerpoint/2010/main" val="406763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DE5747-4690-0050-3919-6FBD0D7760D5}"/>
              </a:ext>
            </a:extLst>
          </p:cNvPr>
          <p:cNvSpPr>
            <a:spLocks noGrp="1"/>
          </p:cNvSpPr>
          <p:nvPr>
            <p:ph type="title"/>
          </p:nvPr>
        </p:nvSpPr>
        <p:spPr/>
        <p:txBody>
          <a:bodyPr/>
          <a:lstStyle/>
          <a:p>
            <a:r>
              <a:rPr lang="en-US" dirty="0"/>
              <a:t>Class primary constructors. </a:t>
            </a:r>
            <a:r>
              <a:rPr lang="ru-RU" dirty="0"/>
              <a:t>Ожидание</a:t>
            </a:r>
          </a:p>
        </p:txBody>
      </p:sp>
      <p:sp>
        <p:nvSpPr>
          <p:cNvPr id="3" name="Объект 2">
            <a:extLst>
              <a:ext uri="{FF2B5EF4-FFF2-40B4-BE49-F238E27FC236}">
                <a16:creationId xmlns:a16="http://schemas.microsoft.com/office/drawing/2014/main" id="{255BCED3-BA87-76BB-0847-045659200A6F}"/>
              </a:ext>
            </a:extLst>
          </p:cNvPr>
          <p:cNvSpPr>
            <a:spLocks noGrp="1"/>
          </p:cNvSpPr>
          <p:nvPr>
            <p:ph sz="half" idx="1"/>
          </p:nvPr>
        </p:nvSpPr>
        <p:spPr/>
        <p:txBody>
          <a:bodyPr>
            <a:normAutofit/>
          </a:bodyPr>
          <a:lstStyle/>
          <a:p>
            <a:pPr marL="0" indent="0">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buNone/>
            </a:pPr>
            <a:endParaRPr lang="en-US" sz="1800" b="0" i="0" dirty="0">
              <a:solidFill>
                <a:srgbClr val="000000"/>
              </a:solidFill>
              <a:latin typeface="Consolas" panose="020B0609020204030204" pitchFamily="49" charset="0"/>
            </a:endParaRPr>
          </a:p>
        </p:txBody>
      </p:sp>
      <p:sp>
        <p:nvSpPr>
          <p:cNvPr id="4" name="Объект 3">
            <a:extLst>
              <a:ext uri="{FF2B5EF4-FFF2-40B4-BE49-F238E27FC236}">
                <a16:creationId xmlns:a16="http://schemas.microsoft.com/office/drawing/2014/main" id="{2CC2B10E-334F-0436-FA56-53AE802B9808}"/>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endParaRPr lang="en-US" b="0" i="0" dirty="0">
              <a:solidFill>
                <a:srgbClr val="000000"/>
              </a:solidFill>
              <a:latin typeface="Consolas" panose="020B0609020204030204" pitchFamily="49" charset="0"/>
            </a:endParaRPr>
          </a:p>
        </p:txBody>
      </p:sp>
      <p:sp>
        <p:nvSpPr>
          <p:cNvPr id="5" name="Номер слайда 4">
            <a:extLst>
              <a:ext uri="{FF2B5EF4-FFF2-40B4-BE49-F238E27FC236}">
                <a16:creationId xmlns:a16="http://schemas.microsoft.com/office/drawing/2014/main" id="{A3AE4BFC-2E66-BF0A-BC5A-C363DFBCF5E9}"/>
              </a:ext>
            </a:extLst>
          </p:cNvPr>
          <p:cNvSpPr>
            <a:spLocks noGrp="1"/>
          </p:cNvSpPr>
          <p:nvPr>
            <p:ph type="sldNum" sz="quarter" idx="12"/>
          </p:nvPr>
        </p:nvSpPr>
        <p:spPr/>
        <p:txBody>
          <a:bodyPr/>
          <a:lstStyle/>
          <a:p>
            <a:fld id="{F8C669BE-477D-42CA-A759-78A8F38A317E}" type="slidenum">
              <a:rPr lang="ru-RU" smtClean="0"/>
              <a:t>4</a:t>
            </a:fld>
            <a:endParaRPr lang="ru-RU"/>
          </a:p>
        </p:txBody>
      </p:sp>
    </p:spTree>
    <p:extLst>
      <p:ext uri="{BB962C8B-B14F-4D97-AF65-F5344CB8AC3E}">
        <p14:creationId xmlns:p14="http://schemas.microsoft.com/office/powerpoint/2010/main" val="2137453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49D2DB-962B-2DB7-E75D-277424381809}"/>
              </a:ext>
            </a:extLst>
          </p:cNvPr>
          <p:cNvSpPr>
            <a:spLocks noGrp="1"/>
          </p:cNvSpPr>
          <p:nvPr>
            <p:ph type="title"/>
          </p:nvPr>
        </p:nvSpPr>
        <p:spPr/>
        <p:txBody>
          <a:bodyPr/>
          <a:lstStyle/>
          <a:p>
            <a:r>
              <a:rPr lang="en-US" dirty="0"/>
              <a:t>Class primary constructors. </a:t>
            </a:r>
            <a:r>
              <a:rPr lang="ru-RU" dirty="0"/>
              <a:t>Реальность</a:t>
            </a:r>
          </a:p>
        </p:txBody>
      </p:sp>
      <p:sp>
        <p:nvSpPr>
          <p:cNvPr id="3" name="Объект 2">
            <a:extLst>
              <a:ext uri="{FF2B5EF4-FFF2-40B4-BE49-F238E27FC236}">
                <a16:creationId xmlns:a16="http://schemas.microsoft.com/office/drawing/2014/main" id="{26B9B83E-8096-E5FC-439E-5F4F3E23AC20}"/>
              </a:ext>
            </a:extLst>
          </p:cNvPr>
          <p:cNvSpPr>
            <a:spLocks noGrp="1"/>
          </p:cNvSpPr>
          <p:nvPr>
            <p:ph sz="half" idx="1"/>
          </p:nvPr>
        </p:nvSpPr>
        <p:spPr/>
        <p:txBody>
          <a:bodyPr/>
          <a:lstStyle/>
          <a:p>
            <a:pPr marL="0" indent="0">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buNone/>
            </a:pPr>
            <a:endParaRPr lang="en-US" sz="1800" b="0" i="0" dirty="0">
              <a:solidFill>
                <a:srgbClr val="000000"/>
              </a:solidFill>
              <a:latin typeface="Consolas" panose="020B0609020204030204" pitchFamily="49" charset="0"/>
            </a:endParaRPr>
          </a:p>
        </p:txBody>
      </p:sp>
      <p:sp>
        <p:nvSpPr>
          <p:cNvPr id="4" name="Объект 3">
            <a:extLst>
              <a:ext uri="{FF2B5EF4-FFF2-40B4-BE49-F238E27FC236}">
                <a16:creationId xmlns:a16="http://schemas.microsoft.com/office/drawing/2014/main" id="{CE8BAA29-53A3-615A-0952-0ABCD941B4E8}"/>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5" name="Номер слайда 4">
            <a:extLst>
              <a:ext uri="{FF2B5EF4-FFF2-40B4-BE49-F238E27FC236}">
                <a16:creationId xmlns:a16="http://schemas.microsoft.com/office/drawing/2014/main" id="{CACD6CCA-0616-143A-D622-FDC0269E11A7}"/>
              </a:ext>
            </a:extLst>
          </p:cNvPr>
          <p:cNvSpPr>
            <a:spLocks noGrp="1"/>
          </p:cNvSpPr>
          <p:nvPr>
            <p:ph type="sldNum" sz="quarter" idx="12"/>
          </p:nvPr>
        </p:nvSpPr>
        <p:spPr/>
        <p:txBody>
          <a:bodyPr/>
          <a:lstStyle/>
          <a:p>
            <a:fld id="{F8C669BE-477D-42CA-A759-78A8F38A317E}" type="slidenum">
              <a:rPr lang="ru-RU" smtClean="0"/>
              <a:t>5</a:t>
            </a:fld>
            <a:endParaRPr lang="ru-RU"/>
          </a:p>
        </p:txBody>
      </p:sp>
    </p:spTree>
    <p:extLst>
      <p:ext uri="{BB962C8B-B14F-4D97-AF65-F5344CB8AC3E}">
        <p14:creationId xmlns:p14="http://schemas.microsoft.com/office/powerpoint/2010/main" val="157853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69FE3EE3-D3DB-C627-306F-9142451EF85B}"/>
              </a:ext>
            </a:extLst>
          </p:cNvPr>
          <p:cNvSpPr>
            <a:spLocks noGrp="1"/>
          </p:cNvSpPr>
          <p:nvPr>
            <p:ph type="title"/>
          </p:nvPr>
        </p:nvSpPr>
        <p:spPr/>
        <p:txBody>
          <a:bodyPr/>
          <a:lstStyle/>
          <a:p>
            <a:r>
              <a:rPr lang="ru-RU" dirty="0"/>
              <a:t>Что же это такое?</a:t>
            </a:r>
          </a:p>
        </p:txBody>
      </p:sp>
      <p:sp>
        <p:nvSpPr>
          <p:cNvPr id="6" name="Объект 5">
            <a:extLst>
              <a:ext uri="{FF2B5EF4-FFF2-40B4-BE49-F238E27FC236}">
                <a16:creationId xmlns:a16="http://schemas.microsoft.com/office/drawing/2014/main" id="{AB71BB43-ED94-65B8-50EF-E33A318F420B}"/>
              </a:ext>
            </a:extLst>
          </p:cNvPr>
          <p:cNvSpPr>
            <a:spLocks noGrp="1"/>
          </p:cNvSpPr>
          <p:nvPr>
            <p:ph idx="1"/>
          </p:nvPr>
        </p:nvSpPr>
        <p:spPr/>
        <p:txBody>
          <a:bodyPr/>
          <a:lstStyle/>
          <a:p>
            <a:pPr marL="0" indent="0">
              <a:buNone/>
            </a:pPr>
            <a:r>
              <a:rPr lang="en-US" b="0" i="0" dirty="0">
                <a:solidFill>
                  <a:srgbClr val="161616"/>
                </a:solidFill>
                <a:effectLst/>
                <a:latin typeface="Segoe UI" panose="020B0502040204020203" pitchFamily="34" charset="0"/>
              </a:rPr>
              <a:t>Classes and structs can have a parameter list, and their base class specification can have an argument list. Primary constructor parameters are in scope throughout the class or struct declaration, and if they are captured by a function member or anonymous function, they are appropriately stored (e.g. as unspeakable private fields of the declared class or struct).</a:t>
            </a:r>
            <a:endParaRPr lang="ru-RU" dirty="0"/>
          </a:p>
          <a:p>
            <a:endParaRPr lang="ru-RU" dirty="0"/>
          </a:p>
          <a:p>
            <a:endParaRPr lang="ru-RU" dirty="0"/>
          </a:p>
          <a:p>
            <a:endParaRPr lang="ru-RU" dirty="0"/>
          </a:p>
          <a:p>
            <a:pPr marL="0" indent="0">
              <a:buNone/>
            </a:pPr>
            <a:r>
              <a:rPr lang="en-US" sz="1800" dirty="0">
                <a:hlinkClick r:id="rId3"/>
              </a:rPr>
              <a:t>https://github.com/dotnet/csharplang/blob/main/proposals/csharp-12.0/primary-constructors.md</a:t>
            </a:r>
            <a:r>
              <a:rPr lang="ru-RU" sz="1800" dirty="0"/>
              <a:t> </a:t>
            </a:r>
          </a:p>
        </p:txBody>
      </p:sp>
      <p:sp>
        <p:nvSpPr>
          <p:cNvPr id="2" name="Номер слайда 1">
            <a:extLst>
              <a:ext uri="{FF2B5EF4-FFF2-40B4-BE49-F238E27FC236}">
                <a16:creationId xmlns:a16="http://schemas.microsoft.com/office/drawing/2014/main" id="{0A17330E-B176-D388-23FC-276FEC50F52F}"/>
              </a:ext>
            </a:extLst>
          </p:cNvPr>
          <p:cNvSpPr>
            <a:spLocks noGrp="1"/>
          </p:cNvSpPr>
          <p:nvPr>
            <p:ph type="sldNum" sz="quarter" idx="12"/>
          </p:nvPr>
        </p:nvSpPr>
        <p:spPr/>
        <p:txBody>
          <a:bodyPr/>
          <a:lstStyle/>
          <a:p>
            <a:fld id="{F8C669BE-477D-42CA-A759-78A8F38A317E}" type="slidenum">
              <a:rPr lang="ru-RU" smtClean="0"/>
              <a:t>6</a:t>
            </a:fld>
            <a:endParaRPr lang="ru-RU"/>
          </a:p>
        </p:txBody>
      </p:sp>
    </p:spTree>
    <p:extLst>
      <p:ext uri="{BB962C8B-B14F-4D97-AF65-F5344CB8AC3E}">
        <p14:creationId xmlns:p14="http://schemas.microsoft.com/office/powerpoint/2010/main" val="223320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A43B56FB-CD19-B947-6327-503D8595ABD0}"/>
              </a:ext>
            </a:extLst>
          </p:cNvPr>
          <p:cNvSpPr>
            <a:spLocks noGrp="1"/>
          </p:cNvSpPr>
          <p:nvPr>
            <p:ph type="title"/>
          </p:nvPr>
        </p:nvSpPr>
        <p:spPr/>
        <p:txBody>
          <a:bodyPr/>
          <a:lstStyle/>
          <a:p>
            <a:endParaRPr lang="ru-RU" dirty="0"/>
          </a:p>
        </p:txBody>
      </p:sp>
      <p:sp>
        <p:nvSpPr>
          <p:cNvPr id="5" name="Объект 4">
            <a:extLst>
              <a:ext uri="{FF2B5EF4-FFF2-40B4-BE49-F238E27FC236}">
                <a16:creationId xmlns:a16="http://schemas.microsoft.com/office/drawing/2014/main" id="{410DFFAA-072F-8FAC-E169-A823E8A83290}"/>
              </a:ext>
            </a:extLst>
          </p:cNvPr>
          <p:cNvSpPr>
            <a:spLocks noGrp="1"/>
          </p:cNvSpPr>
          <p:nvPr>
            <p:ph sz="half"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6" name="Объект 5">
            <a:extLst>
              <a:ext uri="{FF2B5EF4-FFF2-40B4-BE49-F238E27FC236}">
                <a16:creationId xmlns:a16="http://schemas.microsoft.com/office/drawing/2014/main" id="{A2EC2ADD-CFC0-F9F9-9725-CC1EB9E7D123}"/>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2" name="Номер слайда 1">
            <a:extLst>
              <a:ext uri="{FF2B5EF4-FFF2-40B4-BE49-F238E27FC236}">
                <a16:creationId xmlns:a16="http://schemas.microsoft.com/office/drawing/2014/main" id="{2DD38875-1E2A-AAEE-8AAB-2D95AD88E20F}"/>
              </a:ext>
            </a:extLst>
          </p:cNvPr>
          <p:cNvSpPr>
            <a:spLocks noGrp="1"/>
          </p:cNvSpPr>
          <p:nvPr>
            <p:ph type="sldNum" sz="quarter" idx="12"/>
          </p:nvPr>
        </p:nvSpPr>
        <p:spPr/>
        <p:txBody>
          <a:bodyPr/>
          <a:lstStyle/>
          <a:p>
            <a:fld id="{F8C669BE-477D-42CA-A759-78A8F38A317E}" type="slidenum">
              <a:rPr lang="ru-RU" smtClean="0"/>
              <a:t>7</a:t>
            </a:fld>
            <a:endParaRPr lang="ru-RU"/>
          </a:p>
        </p:txBody>
      </p:sp>
    </p:spTree>
    <p:extLst>
      <p:ext uri="{BB962C8B-B14F-4D97-AF65-F5344CB8AC3E}">
        <p14:creationId xmlns:p14="http://schemas.microsoft.com/office/powerpoint/2010/main" val="894966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A9E6A8-CC3A-FC5A-131E-B71DCB01E433}"/>
              </a:ext>
            </a:extLst>
          </p:cNvPr>
          <p:cNvSpPr>
            <a:spLocks noGrp="1"/>
          </p:cNvSpPr>
          <p:nvPr>
            <p:ph type="title"/>
          </p:nvPr>
        </p:nvSpPr>
        <p:spPr/>
        <p:txBody>
          <a:bodyPr/>
          <a:lstStyle/>
          <a:p>
            <a:r>
              <a:rPr lang="ru-RU" dirty="0"/>
              <a:t>Структуры</a:t>
            </a:r>
          </a:p>
        </p:txBody>
      </p:sp>
      <p:sp>
        <p:nvSpPr>
          <p:cNvPr id="3" name="Объект 2">
            <a:extLst>
              <a:ext uri="{FF2B5EF4-FFF2-40B4-BE49-F238E27FC236}">
                <a16:creationId xmlns:a16="http://schemas.microsoft.com/office/drawing/2014/main" id="{046974B7-3D76-19F4-DDE5-09A90B8DA4D7}"/>
              </a:ext>
            </a:extLst>
          </p:cNvPr>
          <p:cNvSpPr>
            <a:spLocks noGrp="1"/>
          </p:cNvSpPr>
          <p:nvPr>
            <p:ph sz="half"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struct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endParaRPr lang="en-US" sz="1800" b="0" dirty="0">
              <a:solidFill>
                <a:srgbClr val="3B3B3B"/>
              </a:solidFill>
              <a:effectLst/>
              <a:latin typeface="Consolas" panose="020B0609020204030204" pitchFamily="49" charset="0"/>
            </a:endParaRPr>
          </a:p>
        </p:txBody>
      </p:sp>
      <p:sp>
        <p:nvSpPr>
          <p:cNvPr id="4" name="Объект 3">
            <a:extLst>
              <a:ext uri="{FF2B5EF4-FFF2-40B4-BE49-F238E27FC236}">
                <a16:creationId xmlns:a16="http://schemas.microsoft.com/office/drawing/2014/main" id="{4648314B-35BC-3E50-D0B4-F6CA1DFFB226}"/>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internal</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struct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5" name="Номер слайда 4">
            <a:extLst>
              <a:ext uri="{FF2B5EF4-FFF2-40B4-BE49-F238E27FC236}">
                <a16:creationId xmlns:a16="http://schemas.microsoft.com/office/drawing/2014/main" id="{6082B4D6-669C-795B-2567-356CEAEB2DA1}"/>
              </a:ext>
            </a:extLst>
          </p:cNvPr>
          <p:cNvSpPr>
            <a:spLocks noGrp="1"/>
          </p:cNvSpPr>
          <p:nvPr>
            <p:ph type="sldNum" sz="quarter" idx="12"/>
          </p:nvPr>
        </p:nvSpPr>
        <p:spPr/>
        <p:txBody>
          <a:bodyPr/>
          <a:lstStyle/>
          <a:p>
            <a:fld id="{F8C669BE-477D-42CA-A759-78A8F38A317E}" type="slidenum">
              <a:rPr lang="ru-RU" smtClean="0"/>
              <a:t>8</a:t>
            </a:fld>
            <a:endParaRPr lang="ru-RU"/>
          </a:p>
        </p:txBody>
      </p:sp>
    </p:spTree>
    <p:extLst>
      <p:ext uri="{BB962C8B-B14F-4D97-AF65-F5344CB8AC3E}">
        <p14:creationId xmlns:p14="http://schemas.microsoft.com/office/powerpoint/2010/main" val="428064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ECD33-366B-F5E8-B85B-3CBDFECD19B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AA23AC-1C9A-E761-73F0-49F14BA723BE}"/>
              </a:ext>
            </a:extLst>
          </p:cNvPr>
          <p:cNvSpPr>
            <a:spLocks noGrp="1"/>
          </p:cNvSpPr>
          <p:nvPr>
            <p:ph type="title"/>
          </p:nvPr>
        </p:nvSpPr>
        <p:spPr/>
        <p:txBody>
          <a:bodyPr/>
          <a:lstStyle/>
          <a:p>
            <a:r>
              <a:rPr lang="en-US" dirty="0" err="1"/>
              <a:t>Readonly</a:t>
            </a:r>
            <a:r>
              <a:rPr lang="en-US" dirty="0"/>
              <a:t>-</a:t>
            </a:r>
            <a:r>
              <a:rPr lang="ru-RU" dirty="0"/>
              <a:t>структуры</a:t>
            </a:r>
          </a:p>
        </p:txBody>
      </p:sp>
      <p:sp>
        <p:nvSpPr>
          <p:cNvPr id="3" name="Объект 2">
            <a:extLst>
              <a:ext uri="{FF2B5EF4-FFF2-40B4-BE49-F238E27FC236}">
                <a16:creationId xmlns:a16="http://schemas.microsoft.com/office/drawing/2014/main" id="{7696D32C-DB03-CC96-ACE3-8C36861EB5EC}"/>
              </a:ext>
            </a:extLst>
          </p:cNvPr>
          <p:cNvSpPr>
            <a:spLocks noGrp="1"/>
          </p:cNvSpPr>
          <p:nvPr>
            <p:ph sz="half" idx="1"/>
          </p:nvPr>
        </p:nvSpPr>
        <p:spPr/>
        <p:txBody>
          <a:bodyPr>
            <a:normAutofit/>
          </a:bodyPr>
          <a:lstStyle/>
          <a:p>
            <a:pPr marL="0" indent="0">
              <a:lnSpc>
                <a:spcPct val="100000"/>
              </a:lnSpc>
              <a:spcBef>
                <a:spcPts val="0"/>
              </a:spcBef>
              <a:buNone/>
            </a:pP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struct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Объект 3">
            <a:extLst>
              <a:ext uri="{FF2B5EF4-FFF2-40B4-BE49-F238E27FC236}">
                <a16:creationId xmlns:a16="http://schemas.microsoft.com/office/drawing/2014/main" id="{9BE862EA-E4A5-481A-7C96-065E9C58DB95}"/>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internal</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struct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&lt;</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&gt;</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5" name="Номер слайда 4">
            <a:extLst>
              <a:ext uri="{FF2B5EF4-FFF2-40B4-BE49-F238E27FC236}">
                <a16:creationId xmlns:a16="http://schemas.microsoft.com/office/drawing/2014/main" id="{17886931-9695-B596-06E1-1F65DB8C779A}"/>
              </a:ext>
            </a:extLst>
          </p:cNvPr>
          <p:cNvSpPr>
            <a:spLocks noGrp="1"/>
          </p:cNvSpPr>
          <p:nvPr>
            <p:ph type="sldNum" sz="quarter" idx="12"/>
          </p:nvPr>
        </p:nvSpPr>
        <p:spPr/>
        <p:txBody>
          <a:bodyPr/>
          <a:lstStyle/>
          <a:p>
            <a:fld id="{F8C669BE-477D-42CA-A759-78A8F38A317E}" type="slidenum">
              <a:rPr lang="ru-RU" smtClean="0"/>
              <a:t>9</a:t>
            </a:fld>
            <a:endParaRPr lang="ru-RU"/>
          </a:p>
        </p:txBody>
      </p:sp>
    </p:spTree>
    <p:extLst>
      <p:ext uri="{BB962C8B-B14F-4D97-AF65-F5344CB8AC3E}">
        <p14:creationId xmlns:p14="http://schemas.microsoft.com/office/powerpoint/2010/main" val="825130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EBDB38-6E50-FA2C-2AAD-C36B0637C742}"/>
              </a:ext>
            </a:extLst>
          </p:cNvPr>
          <p:cNvSpPr>
            <a:spLocks noGrp="1"/>
          </p:cNvSpPr>
          <p:nvPr>
            <p:ph type="title"/>
          </p:nvPr>
        </p:nvSpPr>
        <p:spPr/>
        <p:txBody>
          <a:bodyPr/>
          <a:lstStyle/>
          <a:p>
            <a:r>
              <a:rPr lang="ru-RU" dirty="0"/>
              <a:t>Использование. Поля, свойства и методы</a:t>
            </a:r>
          </a:p>
        </p:txBody>
      </p:sp>
      <p:sp>
        <p:nvSpPr>
          <p:cNvPr id="11" name="Объект 10">
            <a:extLst>
              <a:ext uri="{FF2B5EF4-FFF2-40B4-BE49-F238E27FC236}">
                <a16:creationId xmlns:a16="http://schemas.microsoft.com/office/drawing/2014/main" id="{8DC7E575-9587-8DB3-6857-A23F9D39563B}"/>
              </a:ext>
            </a:extLst>
          </p:cNvPr>
          <p:cNvSpPr>
            <a:spLocks noGrp="1"/>
          </p:cNvSpPr>
          <p:nvPr>
            <p:ph sz="half"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98658"/>
                </a:solidFill>
                <a:effectLst/>
                <a:latin typeface="Consolas" panose="020B0609020204030204" pitchFamily="49" charset="0"/>
              </a:rPr>
              <a:t>1</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 { </a:t>
            </a:r>
            <a:r>
              <a:rPr lang="en-US" sz="1800" b="0" dirty="0">
                <a:solidFill>
                  <a:srgbClr val="0000FF"/>
                </a:solidFill>
                <a:effectLst/>
                <a:latin typeface="Consolas" panose="020B0609020204030204" pitchFamily="49" charset="0"/>
              </a:rPr>
              <a:t>get</a:t>
            </a:r>
            <a:r>
              <a:rPr lang="en-US" sz="1800" b="0" dirty="0">
                <a:solidFill>
                  <a:srgbClr val="3B3B3B"/>
                </a:solidFill>
                <a:effectLst/>
                <a:latin typeface="Consolas" panose="020B0609020204030204" pitchFamily="49" charset="0"/>
              </a:rPr>
              <a:t>; }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12" name="Объект 11">
            <a:extLst>
              <a:ext uri="{FF2B5EF4-FFF2-40B4-BE49-F238E27FC236}">
                <a16:creationId xmlns:a16="http://schemas.microsoft.com/office/drawing/2014/main" id="{C32D2C2C-1823-BB0A-1BC0-BD10426A6DE5}"/>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var</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001080"/>
                </a:solidFill>
                <a:effectLst/>
                <a:latin typeface="Consolas" panose="020B0609020204030204" pitchFamily="49" charset="0"/>
              </a:rPr>
              <a:t>WriteLine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person</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001080"/>
                </a:solidFill>
                <a:effectLst/>
                <a:latin typeface="Consolas" panose="020B0609020204030204" pitchFamily="49" charset="0"/>
              </a:rPr>
              <a:t>WriteLine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person</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2</a:t>
            </a:r>
            <a:endParaRPr lang="en-US" sz="1800" b="0" dirty="0">
              <a:solidFill>
                <a:srgbClr val="3B3B3B"/>
              </a:solidFill>
              <a:effectLst/>
              <a:latin typeface="Consolas" panose="020B0609020204030204" pitchFamily="49" charset="0"/>
            </a:endParaRPr>
          </a:p>
        </p:txBody>
      </p:sp>
      <p:sp>
        <p:nvSpPr>
          <p:cNvPr id="5" name="Номер слайда 4">
            <a:extLst>
              <a:ext uri="{FF2B5EF4-FFF2-40B4-BE49-F238E27FC236}">
                <a16:creationId xmlns:a16="http://schemas.microsoft.com/office/drawing/2014/main" id="{AE17BC21-FDB7-B0A2-EAA8-BA290D966316}"/>
              </a:ext>
            </a:extLst>
          </p:cNvPr>
          <p:cNvSpPr>
            <a:spLocks noGrp="1"/>
          </p:cNvSpPr>
          <p:nvPr>
            <p:ph type="sldNum" sz="quarter" idx="12"/>
          </p:nvPr>
        </p:nvSpPr>
        <p:spPr/>
        <p:txBody>
          <a:bodyPr/>
          <a:lstStyle/>
          <a:p>
            <a:fld id="{F8C669BE-477D-42CA-A759-78A8F38A317E}" type="slidenum">
              <a:rPr lang="ru-RU" smtClean="0"/>
              <a:t>10</a:t>
            </a:fld>
            <a:endParaRPr lang="ru-RU"/>
          </a:p>
        </p:txBody>
      </p:sp>
    </p:spTree>
    <p:extLst>
      <p:ext uri="{BB962C8B-B14F-4D97-AF65-F5344CB8AC3E}">
        <p14:creationId xmlns:p14="http://schemas.microsoft.com/office/powerpoint/2010/main" val="292334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3CBE90-A59A-ADCF-34B8-6572DFB95CFC}"/>
              </a:ext>
            </a:extLst>
          </p:cNvPr>
          <p:cNvSpPr>
            <a:spLocks noGrp="1"/>
          </p:cNvSpPr>
          <p:nvPr>
            <p:ph type="title"/>
          </p:nvPr>
        </p:nvSpPr>
        <p:spPr/>
        <p:txBody>
          <a:bodyPr/>
          <a:lstStyle/>
          <a:p>
            <a:r>
              <a:rPr lang="ru-RU" dirty="0"/>
              <a:t>Наследование</a:t>
            </a:r>
          </a:p>
        </p:txBody>
      </p:sp>
      <p:sp>
        <p:nvSpPr>
          <p:cNvPr id="6" name="Объект 5">
            <a:extLst>
              <a:ext uri="{FF2B5EF4-FFF2-40B4-BE49-F238E27FC236}">
                <a16:creationId xmlns:a16="http://schemas.microsoft.com/office/drawing/2014/main" id="{E2B15BCF-B53D-F004-67D6-31F86B7DCCA6}"/>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Base</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Derived</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derivedAge</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name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 </a:t>
            </a:r>
            <a:r>
              <a:rPr lang="en-US" sz="1800" b="0" dirty="0">
                <a:solidFill>
                  <a:srgbClr val="267F99"/>
                </a:solidFill>
                <a:effectLst/>
                <a:latin typeface="Consolas" panose="020B0609020204030204" pitchFamily="49" charset="0"/>
              </a:rPr>
              <a:t>Base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derivedAge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008000"/>
                </a:solidFill>
                <a:effectLst/>
                <a:latin typeface="Consolas" panose="020B0609020204030204" pitchFamily="49" charset="0"/>
              </a:rPr>
              <a:t>    // error CS0103: The name 'age' does not exist in the current context</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GetBaseAge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5" name="Номер слайда 4">
            <a:extLst>
              <a:ext uri="{FF2B5EF4-FFF2-40B4-BE49-F238E27FC236}">
                <a16:creationId xmlns:a16="http://schemas.microsoft.com/office/drawing/2014/main" id="{2F500B70-6E74-71DC-9AB4-640DFE42CDF8}"/>
              </a:ext>
            </a:extLst>
          </p:cNvPr>
          <p:cNvSpPr>
            <a:spLocks noGrp="1"/>
          </p:cNvSpPr>
          <p:nvPr>
            <p:ph type="sldNum" sz="quarter" idx="12"/>
          </p:nvPr>
        </p:nvSpPr>
        <p:spPr/>
        <p:txBody>
          <a:bodyPr/>
          <a:lstStyle/>
          <a:p>
            <a:fld id="{F8C669BE-477D-42CA-A759-78A8F38A317E}" type="slidenum">
              <a:rPr lang="ru-RU" smtClean="0"/>
              <a:t>11</a:t>
            </a:fld>
            <a:endParaRPr lang="ru-RU"/>
          </a:p>
        </p:txBody>
      </p:sp>
    </p:spTree>
    <p:extLst>
      <p:ext uri="{BB962C8B-B14F-4D97-AF65-F5344CB8AC3E}">
        <p14:creationId xmlns:p14="http://schemas.microsoft.com/office/powerpoint/2010/main" val="2321559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8763D8-6D71-6FB3-B924-FF1D8CA13189}"/>
              </a:ext>
            </a:extLst>
          </p:cNvPr>
          <p:cNvSpPr>
            <a:spLocks noGrp="1"/>
          </p:cNvSpPr>
          <p:nvPr>
            <p:ph type="title"/>
          </p:nvPr>
        </p:nvSpPr>
        <p:spPr/>
        <p:txBody>
          <a:bodyPr/>
          <a:lstStyle/>
          <a:p>
            <a:r>
              <a:rPr lang="ru-RU" dirty="0"/>
              <a:t>Явные конструкторы</a:t>
            </a:r>
          </a:p>
        </p:txBody>
      </p:sp>
      <p:sp>
        <p:nvSpPr>
          <p:cNvPr id="3" name="Объект 2">
            <a:extLst>
              <a:ext uri="{FF2B5EF4-FFF2-40B4-BE49-F238E27FC236}">
                <a16:creationId xmlns:a16="http://schemas.microsoft.com/office/drawing/2014/main" id="{6403E0AD-DDF2-DF89-95C7-D76CE7A75BC2}"/>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name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 </a:t>
            </a:r>
            <a:r>
              <a:rPr lang="en-US" sz="1800" b="0" dirty="0">
                <a:solidFill>
                  <a:srgbClr val="0000FF"/>
                </a:solidFill>
                <a:effectLst/>
                <a:latin typeface="Consolas" panose="020B0609020204030204" pitchFamily="49" charset="0"/>
              </a:rPr>
              <a:t>this</a:t>
            </a:r>
            <a:r>
              <a:rPr lang="en-US" sz="1800" b="0" dirty="0">
                <a:solidFill>
                  <a:srgbClr val="3B3B3B"/>
                </a:solidFill>
                <a:effectLst/>
                <a:latin typeface="Consolas" panose="020B0609020204030204" pitchFamily="49" charset="0"/>
              </a:rPr>
              <a:t>(</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Номер слайда 3">
            <a:extLst>
              <a:ext uri="{FF2B5EF4-FFF2-40B4-BE49-F238E27FC236}">
                <a16:creationId xmlns:a16="http://schemas.microsoft.com/office/drawing/2014/main" id="{29F1DE3E-4825-A396-57FF-3EA201F694CB}"/>
              </a:ext>
            </a:extLst>
          </p:cNvPr>
          <p:cNvSpPr>
            <a:spLocks noGrp="1"/>
          </p:cNvSpPr>
          <p:nvPr>
            <p:ph type="sldNum" sz="quarter" idx="12"/>
          </p:nvPr>
        </p:nvSpPr>
        <p:spPr/>
        <p:txBody>
          <a:bodyPr/>
          <a:lstStyle/>
          <a:p>
            <a:fld id="{F8C669BE-477D-42CA-A759-78A8F38A317E}" type="slidenum">
              <a:rPr lang="ru-RU" smtClean="0"/>
              <a:t>12</a:t>
            </a:fld>
            <a:endParaRPr lang="ru-RU"/>
          </a:p>
        </p:txBody>
      </p:sp>
    </p:spTree>
    <p:extLst>
      <p:ext uri="{BB962C8B-B14F-4D97-AF65-F5344CB8AC3E}">
        <p14:creationId xmlns:p14="http://schemas.microsoft.com/office/powerpoint/2010/main" val="2538880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E33131E3-CC91-6FFE-BA03-408C115B02EA}"/>
              </a:ext>
            </a:extLst>
          </p:cNvPr>
          <p:cNvSpPr>
            <a:spLocks noGrp="1"/>
          </p:cNvSpPr>
          <p:nvPr>
            <p:ph type="ctrTitle"/>
          </p:nvPr>
        </p:nvSpPr>
        <p:spPr/>
        <p:txBody>
          <a:bodyPr/>
          <a:lstStyle/>
          <a:p>
            <a:r>
              <a:rPr lang="ru-RU" dirty="0"/>
              <a:t>Проблемы</a:t>
            </a:r>
          </a:p>
        </p:txBody>
      </p:sp>
      <p:sp>
        <p:nvSpPr>
          <p:cNvPr id="8" name="Подзаголовок 7">
            <a:extLst>
              <a:ext uri="{FF2B5EF4-FFF2-40B4-BE49-F238E27FC236}">
                <a16:creationId xmlns:a16="http://schemas.microsoft.com/office/drawing/2014/main" id="{0D07AE5F-FC82-0C76-7159-58E2DB8A5574}"/>
              </a:ext>
            </a:extLst>
          </p:cNvPr>
          <p:cNvSpPr>
            <a:spLocks noGrp="1"/>
          </p:cNvSpPr>
          <p:nvPr>
            <p:ph type="subTitle" idx="1"/>
          </p:nvPr>
        </p:nvSpPr>
        <p:spPr/>
        <p:txBody>
          <a:bodyPr/>
          <a:lstStyle/>
          <a:p>
            <a:endParaRPr lang="ru-RU"/>
          </a:p>
        </p:txBody>
      </p:sp>
      <p:sp>
        <p:nvSpPr>
          <p:cNvPr id="2" name="Номер слайда 1">
            <a:extLst>
              <a:ext uri="{FF2B5EF4-FFF2-40B4-BE49-F238E27FC236}">
                <a16:creationId xmlns:a16="http://schemas.microsoft.com/office/drawing/2014/main" id="{A7256629-379F-679D-2423-894C4C28E942}"/>
              </a:ext>
            </a:extLst>
          </p:cNvPr>
          <p:cNvSpPr>
            <a:spLocks noGrp="1"/>
          </p:cNvSpPr>
          <p:nvPr>
            <p:ph type="sldNum" sz="quarter" idx="12"/>
          </p:nvPr>
        </p:nvSpPr>
        <p:spPr/>
        <p:txBody>
          <a:bodyPr/>
          <a:lstStyle/>
          <a:p>
            <a:fld id="{F8C669BE-477D-42CA-A759-78A8F38A317E}" type="slidenum">
              <a:rPr lang="ru-RU" smtClean="0"/>
              <a:t>13</a:t>
            </a:fld>
            <a:endParaRPr lang="ru-RU"/>
          </a:p>
        </p:txBody>
      </p:sp>
    </p:spTree>
    <p:extLst>
      <p:ext uri="{BB962C8B-B14F-4D97-AF65-F5344CB8AC3E}">
        <p14:creationId xmlns:p14="http://schemas.microsoft.com/office/powerpoint/2010/main" val="4125111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1FAC1C-0EE9-AF2B-E66B-ACB27037FEF1}"/>
              </a:ext>
            </a:extLst>
          </p:cNvPr>
          <p:cNvSpPr>
            <a:spLocks noGrp="1"/>
          </p:cNvSpPr>
          <p:nvPr>
            <p:ph type="title"/>
          </p:nvPr>
        </p:nvSpPr>
        <p:spPr/>
        <p:txBody>
          <a:bodyPr/>
          <a:lstStyle/>
          <a:p>
            <a:r>
              <a:rPr lang="ru-RU" dirty="0"/>
              <a:t>Изменяемое состояние</a:t>
            </a:r>
          </a:p>
        </p:txBody>
      </p:sp>
      <p:sp>
        <p:nvSpPr>
          <p:cNvPr id="3" name="Объект 2">
            <a:extLst>
              <a:ext uri="{FF2B5EF4-FFF2-40B4-BE49-F238E27FC236}">
                <a16:creationId xmlns:a16="http://schemas.microsoft.com/office/drawing/2014/main" id="{B33AE9B3-8CE5-BEF1-AAF8-7A14E9BAD00D}"/>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Service</a:t>
            </a:r>
            <a:r>
              <a:rPr lang="en-US" sz="1800" b="0" dirty="0">
                <a:solidFill>
                  <a:srgbClr val="3B3B3B"/>
                </a:solidFill>
                <a:effectLst/>
                <a:latin typeface="Consolas" panose="020B0609020204030204" pitchFamily="49" charset="0"/>
              </a:rPr>
              <a:t>(</a:t>
            </a:r>
            <a:r>
              <a:rPr lang="en-US" sz="1800" b="0" dirty="0" err="1">
                <a:solidFill>
                  <a:srgbClr val="267F99"/>
                </a:solidFill>
                <a:effectLst/>
                <a:latin typeface="Consolas" panose="020B0609020204030204" pitchFamily="49" charset="0"/>
              </a:rPr>
              <a:t>IDependency</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dependency</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r>
              <a:rPr lang="en-US" sz="1800" b="0" dirty="0">
                <a:solidFill>
                  <a:srgbClr val="795E26"/>
                </a:solidFill>
                <a:effectLst/>
                <a:latin typeface="Consolas" panose="020B0609020204030204" pitchFamily="49" charset="0"/>
              </a:rPr>
              <a:t>Method</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dependency</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null</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dependency</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ToString</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Номер слайда 3">
            <a:extLst>
              <a:ext uri="{FF2B5EF4-FFF2-40B4-BE49-F238E27FC236}">
                <a16:creationId xmlns:a16="http://schemas.microsoft.com/office/drawing/2014/main" id="{680D1F8B-44FF-2BFF-8744-74D21407B3C5}"/>
              </a:ext>
            </a:extLst>
          </p:cNvPr>
          <p:cNvSpPr>
            <a:spLocks noGrp="1"/>
          </p:cNvSpPr>
          <p:nvPr>
            <p:ph type="sldNum" sz="quarter" idx="12"/>
          </p:nvPr>
        </p:nvSpPr>
        <p:spPr/>
        <p:txBody>
          <a:bodyPr/>
          <a:lstStyle/>
          <a:p>
            <a:fld id="{F8C669BE-477D-42CA-A759-78A8F38A317E}" type="slidenum">
              <a:rPr lang="ru-RU" smtClean="0"/>
              <a:t>14</a:t>
            </a:fld>
            <a:endParaRPr lang="ru-RU"/>
          </a:p>
        </p:txBody>
      </p:sp>
    </p:spTree>
    <p:extLst>
      <p:ext uri="{BB962C8B-B14F-4D97-AF65-F5344CB8AC3E}">
        <p14:creationId xmlns:p14="http://schemas.microsoft.com/office/powerpoint/2010/main" val="2047373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F92D4F-A521-4BDC-F7EE-3B452E92D2D9}"/>
              </a:ext>
            </a:extLst>
          </p:cNvPr>
          <p:cNvSpPr>
            <a:spLocks noGrp="1"/>
          </p:cNvSpPr>
          <p:nvPr>
            <p:ph type="title"/>
          </p:nvPr>
        </p:nvSpPr>
        <p:spPr/>
        <p:txBody>
          <a:bodyPr/>
          <a:lstStyle/>
          <a:p>
            <a:r>
              <a:rPr lang="ru-RU" dirty="0"/>
              <a:t>Нет проверки аргументов</a:t>
            </a:r>
          </a:p>
        </p:txBody>
      </p:sp>
      <p:sp>
        <p:nvSpPr>
          <p:cNvPr id="3" name="Объект 2">
            <a:extLst>
              <a:ext uri="{FF2B5EF4-FFF2-40B4-BE49-F238E27FC236}">
                <a16:creationId xmlns:a16="http://schemas.microsoft.com/office/drawing/2014/main" id="{28F93086-1F9F-5A89-C06B-5BDBA32DD491}"/>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Service</a:t>
            </a:r>
            <a:r>
              <a:rPr lang="en-US" sz="1800" b="0" dirty="0">
                <a:solidFill>
                  <a:srgbClr val="3B3B3B"/>
                </a:solidFill>
                <a:effectLst/>
                <a:latin typeface="Consolas" panose="020B0609020204030204" pitchFamily="49" charset="0"/>
              </a:rPr>
              <a:t>(</a:t>
            </a:r>
            <a:r>
              <a:rPr lang="en-US" sz="1800" b="0" dirty="0" err="1">
                <a:solidFill>
                  <a:srgbClr val="267F99"/>
                </a:solidFill>
                <a:effectLst/>
                <a:latin typeface="Consolas" panose="020B0609020204030204" pitchFamily="49" charset="0"/>
              </a:rPr>
              <a:t>IDependency</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dependency</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err="1">
                <a:solidFill>
                  <a:srgbClr val="267F99"/>
                </a:solidFill>
                <a:effectLst/>
                <a:latin typeface="Consolas" panose="020B0609020204030204" pitchFamily="49" charset="0"/>
              </a:rPr>
              <a:t>IDependency</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_dependency</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dependency</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throw</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ArgumentNullException</a:t>
            </a:r>
            <a:r>
              <a:rPr lang="en-US" sz="1800" b="0" dirty="0">
                <a:solidFill>
                  <a:srgbClr val="3B3B3B"/>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nameof</a:t>
            </a:r>
            <a:r>
              <a:rPr lang="en-US" sz="1800" b="0" dirty="0">
                <a:solidFill>
                  <a:srgbClr val="3B3B3B"/>
                </a:solidFill>
                <a:effectLst/>
                <a:latin typeface="Consolas" panose="020B0609020204030204" pitchFamily="49" charset="0"/>
              </a:rPr>
              <a:t>(</a:t>
            </a:r>
            <a:r>
              <a:rPr lang="en-US" sz="1800" b="0" dirty="0">
                <a:solidFill>
                  <a:srgbClr val="001080"/>
                </a:solidFill>
                <a:effectLst/>
                <a:latin typeface="Consolas" panose="020B0609020204030204" pitchFamily="49" charset="0"/>
              </a:rPr>
              <a:t>dependency</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r>
              <a:rPr lang="en-US" sz="1800" b="0" dirty="0">
                <a:solidFill>
                  <a:srgbClr val="795E26"/>
                </a:solidFill>
                <a:effectLst/>
                <a:latin typeface="Consolas" panose="020B0609020204030204" pitchFamily="49" charset="0"/>
              </a:rPr>
              <a:t>Method</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a:t>
            </a:r>
            <a:r>
              <a:rPr lang="en-US" sz="1800" b="0" dirty="0" err="1">
                <a:solidFill>
                  <a:srgbClr val="001080"/>
                </a:solidFill>
                <a:effectLst/>
                <a:latin typeface="Consolas" panose="020B0609020204030204" pitchFamily="49" charset="0"/>
              </a:rPr>
              <a:t>dependency</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ToString</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Номер слайда 3">
            <a:extLst>
              <a:ext uri="{FF2B5EF4-FFF2-40B4-BE49-F238E27FC236}">
                <a16:creationId xmlns:a16="http://schemas.microsoft.com/office/drawing/2014/main" id="{CF82EC42-BCA7-2FCD-0081-B0F2189143F7}"/>
              </a:ext>
            </a:extLst>
          </p:cNvPr>
          <p:cNvSpPr>
            <a:spLocks noGrp="1"/>
          </p:cNvSpPr>
          <p:nvPr>
            <p:ph type="sldNum" sz="quarter" idx="12"/>
          </p:nvPr>
        </p:nvSpPr>
        <p:spPr/>
        <p:txBody>
          <a:bodyPr/>
          <a:lstStyle/>
          <a:p>
            <a:fld id="{F8C669BE-477D-42CA-A759-78A8F38A317E}" type="slidenum">
              <a:rPr lang="ru-RU" smtClean="0"/>
              <a:t>15</a:t>
            </a:fld>
            <a:endParaRPr lang="ru-RU"/>
          </a:p>
        </p:txBody>
      </p:sp>
    </p:spTree>
    <p:extLst>
      <p:ext uri="{BB962C8B-B14F-4D97-AF65-F5344CB8AC3E}">
        <p14:creationId xmlns:p14="http://schemas.microsoft.com/office/powerpoint/2010/main" val="3571713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61CCC0-FB6E-7967-1A24-80ED44FA393B}"/>
              </a:ext>
            </a:extLst>
          </p:cNvPr>
          <p:cNvSpPr>
            <a:spLocks noGrp="1"/>
          </p:cNvSpPr>
          <p:nvPr>
            <p:ph type="title"/>
          </p:nvPr>
        </p:nvSpPr>
        <p:spPr/>
        <p:txBody>
          <a:bodyPr/>
          <a:lstStyle/>
          <a:p>
            <a:r>
              <a:rPr lang="ru-RU" dirty="0" err="1"/>
              <a:t>Неконсистентное</a:t>
            </a:r>
            <a:r>
              <a:rPr lang="ru-RU" dirty="0"/>
              <a:t> именование</a:t>
            </a:r>
          </a:p>
        </p:txBody>
      </p:sp>
      <p:sp>
        <p:nvSpPr>
          <p:cNvPr id="3" name="Объект 2">
            <a:extLst>
              <a:ext uri="{FF2B5EF4-FFF2-40B4-BE49-F238E27FC236}">
                <a16:creationId xmlns:a16="http://schemas.microsoft.com/office/drawing/2014/main" id="{FB546768-6D0C-A14E-D31F-AE8FFF009094}"/>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008000"/>
                </a:solidFill>
                <a:effectLst/>
                <a:latin typeface="Consolas" panose="020B0609020204030204" pitchFamily="49" charset="0"/>
              </a:rPr>
              <a:t>        // Error CS1061: "Person" </a:t>
            </a:r>
            <a:r>
              <a:rPr lang="ru-RU" sz="1800" b="0" dirty="0">
                <a:solidFill>
                  <a:srgbClr val="008000"/>
                </a:solidFill>
                <a:effectLst/>
                <a:latin typeface="Consolas" panose="020B0609020204030204" pitchFamily="49" charset="0"/>
              </a:rPr>
              <a:t>не содержит определения "</a:t>
            </a:r>
            <a:r>
              <a:rPr lang="en-US" sz="1800" b="0" dirty="0">
                <a:solidFill>
                  <a:srgbClr val="008000"/>
                </a:solidFill>
                <a:effectLst/>
                <a:latin typeface="Consolas" panose="020B0609020204030204" pitchFamily="49" charset="0"/>
              </a:rPr>
              <a:t>age", </a:t>
            </a:r>
            <a:r>
              <a:rPr lang="ru-RU" sz="1800" b="0" dirty="0">
                <a:solidFill>
                  <a:srgbClr val="008000"/>
                </a:solidFill>
                <a:effectLst/>
                <a:latin typeface="Consolas" panose="020B0609020204030204" pitchFamily="49" charset="0"/>
              </a:rPr>
              <a:t>и не удалось найти доступный метод расширения "</a:t>
            </a:r>
            <a:r>
              <a:rPr lang="en-US" sz="1800" b="0" dirty="0">
                <a:solidFill>
                  <a:srgbClr val="008000"/>
                </a:solidFill>
                <a:effectLst/>
                <a:latin typeface="Consolas" panose="020B0609020204030204" pitchFamily="49" charset="0"/>
              </a:rPr>
              <a:t>age", </a:t>
            </a:r>
            <a:r>
              <a:rPr lang="ru-RU" sz="1800" b="0" dirty="0">
                <a:solidFill>
                  <a:srgbClr val="008000"/>
                </a:solidFill>
                <a:effectLst/>
                <a:latin typeface="Consolas" panose="020B0609020204030204" pitchFamily="49" charset="0"/>
              </a:rPr>
              <a:t>принимающий тип "</a:t>
            </a:r>
            <a:r>
              <a:rPr lang="en-US" sz="1800" b="0" dirty="0">
                <a:solidFill>
                  <a:srgbClr val="008000"/>
                </a:solidFill>
                <a:effectLst/>
                <a:latin typeface="Consolas" panose="020B0609020204030204" pitchFamily="49" charset="0"/>
              </a:rPr>
              <a:t>Person" </a:t>
            </a:r>
            <a:r>
              <a:rPr lang="ru-RU" sz="1800" b="0" dirty="0">
                <a:solidFill>
                  <a:srgbClr val="008000"/>
                </a:solidFill>
                <a:effectLst/>
                <a:latin typeface="Consolas" panose="020B0609020204030204" pitchFamily="49" charset="0"/>
              </a:rPr>
              <a:t>в качестве первого аргумента</a:t>
            </a:r>
            <a:endParaRPr lang="ru-RU" sz="1800" b="0" dirty="0">
              <a:solidFill>
                <a:srgbClr val="3B3B3B"/>
              </a:solidFill>
              <a:effectLst/>
              <a:latin typeface="Consolas" panose="020B0609020204030204" pitchFamily="49" charset="0"/>
            </a:endParaRPr>
          </a:p>
          <a:p>
            <a:pPr marL="0" indent="0">
              <a:lnSpc>
                <a:spcPct val="100000"/>
              </a:lnSpc>
              <a:spcBef>
                <a:spcPts val="0"/>
              </a:spcBef>
              <a:buNone/>
            </a:pPr>
            <a:r>
              <a:rPr lang="ru-RU"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return</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this</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Номер слайда 3">
            <a:extLst>
              <a:ext uri="{FF2B5EF4-FFF2-40B4-BE49-F238E27FC236}">
                <a16:creationId xmlns:a16="http://schemas.microsoft.com/office/drawing/2014/main" id="{2BF5D452-C48E-D1C8-5A07-EE7C068D7E63}"/>
              </a:ext>
            </a:extLst>
          </p:cNvPr>
          <p:cNvSpPr>
            <a:spLocks noGrp="1"/>
          </p:cNvSpPr>
          <p:nvPr>
            <p:ph type="sldNum" sz="quarter" idx="12"/>
          </p:nvPr>
        </p:nvSpPr>
        <p:spPr/>
        <p:txBody>
          <a:bodyPr/>
          <a:lstStyle/>
          <a:p>
            <a:fld id="{F8C669BE-477D-42CA-A759-78A8F38A317E}" type="slidenum">
              <a:rPr lang="ru-RU" smtClean="0"/>
              <a:t>16</a:t>
            </a:fld>
            <a:endParaRPr lang="ru-RU"/>
          </a:p>
        </p:txBody>
      </p:sp>
    </p:spTree>
    <p:extLst>
      <p:ext uri="{BB962C8B-B14F-4D97-AF65-F5344CB8AC3E}">
        <p14:creationId xmlns:p14="http://schemas.microsoft.com/office/powerpoint/2010/main" val="145383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951C-23FC-E714-8822-44DCC55306F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D3EAB1-063F-DBCA-C862-E0CA2DD702D6}"/>
              </a:ext>
            </a:extLst>
          </p:cNvPr>
          <p:cNvSpPr>
            <a:spLocks noGrp="1"/>
          </p:cNvSpPr>
          <p:nvPr>
            <p:ph type="title"/>
          </p:nvPr>
        </p:nvSpPr>
        <p:spPr/>
        <p:txBody>
          <a:bodyPr/>
          <a:lstStyle/>
          <a:p>
            <a:r>
              <a:rPr lang="ru-RU" dirty="0" err="1"/>
              <a:t>Неконсистентное</a:t>
            </a:r>
            <a:r>
              <a:rPr lang="ru-RU" dirty="0"/>
              <a:t> именование</a:t>
            </a:r>
          </a:p>
        </p:txBody>
      </p:sp>
      <p:sp>
        <p:nvSpPr>
          <p:cNvPr id="3" name="Объект 2">
            <a:extLst>
              <a:ext uri="{FF2B5EF4-FFF2-40B4-BE49-F238E27FC236}">
                <a16:creationId xmlns:a16="http://schemas.microsoft.com/office/drawing/2014/main" id="{936A4897-E029-FEC1-7CCD-9BE0222457A7}"/>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0000FF"/>
                </a:solidFill>
                <a:effectLst/>
                <a:latin typeface="Consolas" panose="020B0609020204030204" pitchFamily="49" charset="0"/>
              </a:rPr>
              <a:t>var</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1080"/>
                </a:solidFill>
                <a:effectLst/>
                <a:latin typeface="Consolas" panose="020B0609020204030204" pitchFamily="49" charset="0"/>
              </a:rPr>
              <a:t>_age</a:t>
            </a:r>
            <a:r>
              <a:rPr lang="en-US" sz="1800" b="0" dirty="0">
                <a:solidFill>
                  <a:srgbClr val="3B3B3B"/>
                </a:solidFill>
                <a:effectLst/>
                <a:latin typeface="Consolas" panose="020B0609020204030204" pitchFamily="49" charset="0"/>
              </a:rPr>
              <a:t>: </a:t>
            </a:r>
            <a:r>
              <a:rPr lang="en-US" sz="1800" b="0" dirty="0">
                <a:solidFill>
                  <a:srgbClr val="098658"/>
                </a:solidFill>
                <a:effectLst/>
                <a:latin typeface="Consolas" panose="020B0609020204030204" pitchFamily="49" charset="0"/>
              </a:rPr>
              <a:t>1</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br>
              <a:rPr lang="en-US" sz="1800" b="0" dirty="0">
                <a:solidFill>
                  <a:srgbClr val="3B3B3B"/>
                </a:solidFill>
                <a:effectLst/>
                <a:latin typeface="Consolas" panose="020B0609020204030204" pitchFamily="49" charset="0"/>
              </a:rPr>
            </a:br>
            <a:endParaRPr lang="en-US" sz="1800" b="0" dirty="0">
              <a:solidFill>
                <a:srgbClr val="3B3B3B"/>
              </a:solidFill>
              <a:effectLst/>
              <a:latin typeface="Consolas" panose="020B0609020204030204" pitchFamily="49" charset="0"/>
            </a:endParaRPr>
          </a:p>
        </p:txBody>
      </p:sp>
      <p:sp>
        <p:nvSpPr>
          <p:cNvPr id="4" name="Номер слайда 3">
            <a:extLst>
              <a:ext uri="{FF2B5EF4-FFF2-40B4-BE49-F238E27FC236}">
                <a16:creationId xmlns:a16="http://schemas.microsoft.com/office/drawing/2014/main" id="{3B7AAD6A-7B32-35BD-06C3-B82C370A84A4}"/>
              </a:ext>
            </a:extLst>
          </p:cNvPr>
          <p:cNvSpPr>
            <a:spLocks noGrp="1"/>
          </p:cNvSpPr>
          <p:nvPr>
            <p:ph type="sldNum" sz="quarter" idx="12"/>
          </p:nvPr>
        </p:nvSpPr>
        <p:spPr/>
        <p:txBody>
          <a:bodyPr/>
          <a:lstStyle/>
          <a:p>
            <a:fld id="{F8C669BE-477D-42CA-A759-78A8F38A317E}" type="slidenum">
              <a:rPr lang="ru-RU" smtClean="0"/>
              <a:t>17</a:t>
            </a:fld>
            <a:endParaRPr lang="ru-RU"/>
          </a:p>
        </p:txBody>
      </p:sp>
    </p:spTree>
    <p:extLst>
      <p:ext uri="{BB962C8B-B14F-4D97-AF65-F5344CB8AC3E}">
        <p14:creationId xmlns:p14="http://schemas.microsoft.com/office/powerpoint/2010/main" val="3710553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3A1B1-6EAE-B42F-4EA6-E263D3620A77}"/>
              </a:ext>
            </a:extLst>
          </p:cNvPr>
          <p:cNvSpPr>
            <a:spLocks noGrp="1"/>
          </p:cNvSpPr>
          <p:nvPr>
            <p:ph type="title"/>
          </p:nvPr>
        </p:nvSpPr>
        <p:spPr/>
        <p:txBody>
          <a:bodyPr/>
          <a:lstStyle/>
          <a:p>
            <a:r>
              <a:rPr lang="ru-RU" dirty="0"/>
              <a:t>Двойное использование (</a:t>
            </a:r>
            <a:r>
              <a:rPr lang="en-US" dirty="0"/>
              <a:t>double storage)</a:t>
            </a:r>
            <a:endParaRPr lang="ru-RU" dirty="0"/>
          </a:p>
        </p:txBody>
      </p:sp>
      <p:sp>
        <p:nvSpPr>
          <p:cNvPr id="3" name="Объект 2">
            <a:extLst>
              <a:ext uri="{FF2B5EF4-FFF2-40B4-BE49-F238E27FC236}">
                <a16:creationId xmlns:a16="http://schemas.microsoft.com/office/drawing/2014/main" id="{E6CD5F6A-7384-0319-380A-19922FB14ED7}"/>
              </a:ext>
            </a:extLst>
          </p:cNvPr>
          <p:cNvSpPr>
            <a:spLocks noGrp="1"/>
          </p:cNvSpPr>
          <p:nvPr>
            <p:ph sz="half" idx="1"/>
          </p:nvPr>
        </p:nvSpPr>
        <p:spPr>
          <a:xfrm>
            <a:off x="393469" y="1825625"/>
            <a:ext cx="6666807" cy="3749444"/>
          </a:xfrm>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008000"/>
                </a:solidFill>
                <a:effectLst/>
                <a:latin typeface="Consolas" panose="020B0609020204030204" pitchFamily="49" charset="0"/>
              </a:rPr>
              <a:t>    // CS9124: Parameter is captured into the state of the enclosing type and its value is also used to initialize a field, property, or event.</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InitializedAge</a:t>
            </a:r>
            <a:r>
              <a:rPr lang="en-US" sz="1800" b="0" dirty="0">
                <a:solidFill>
                  <a:srgbClr val="3B3B3B"/>
                </a:solidFill>
                <a:effectLst/>
                <a:latin typeface="Consolas" panose="020B0609020204030204" pitchFamily="49" charset="0"/>
              </a:rPr>
              <a:t> { </a:t>
            </a:r>
            <a:r>
              <a:rPr lang="en-US" sz="1800" b="0" dirty="0">
                <a:solidFill>
                  <a:srgbClr val="0000FF"/>
                </a:solidFill>
                <a:effectLst/>
                <a:latin typeface="Consolas" panose="020B0609020204030204" pitchFamily="49" charset="0"/>
              </a:rPr>
              <a:t>get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set</a:t>
            </a:r>
            <a:r>
              <a:rPr lang="en-US" sz="1800" b="0" dirty="0">
                <a:solidFill>
                  <a:srgbClr val="3B3B3B"/>
                </a:solidFill>
                <a:effectLst/>
                <a:latin typeface="Consolas" panose="020B0609020204030204" pitchFamily="49" charset="0"/>
              </a:rPr>
              <a:t>; }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CapturedAge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a:solidFill>
                  <a:srgbClr val="001080"/>
                </a:solidFill>
                <a:effectLst/>
                <a:latin typeface="Consolas" panose="020B0609020204030204" pitchFamily="49" charset="0"/>
              </a:rPr>
              <a:t>age</a:t>
            </a:r>
            <a:r>
              <a:rPr lang="en-US" sz="1800" b="0" dirty="0">
                <a:solidFill>
                  <a:srgbClr val="A31515"/>
                </a:solidFill>
                <a:effectLst/>
                <a:latin typeface="Consolas" panose="020B0609020204030204" pitchFamily="49" charset="0"/>
              </a:rPr>
              <a:t>}!"</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Объект 3">
            <a:extLst>
              <a:ext uri="{FF2B5EF4-FFF2-40B4-BE49-F238E27FC236}">
                <a16:creationId xmlns:a16="http://schemas.microsoft.com/office/drawing/2014/main" id="{F3FF89EF-EF20-0BF0-585E-C22B9873771B}"/>
              </a:ext>
            </a:extLst>
          </p:cNvPr>
          <p:cNvSpPr>
            <a:spLocks noGrp="1"/>
          </p:cNvSpPr>
          <p:nvPr>
            <p:ph sz="half" idx="2"/>
          </p:nvPr>
        </p:nvSpPr>
        <p:spPr>
          <a:xfrm>
            <a:off x="7220989" y="1825625"/>
            <a:ext cx="4505497" cy="4351338"/>
          </a:xfrm>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var</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001080"/>
                </a:solidFill>
                <a:effectLst/>
                <a:latin typeface="Consolas" panose="020B0609020204030204" pitchFamily="49" charset="0"/>
              </a:rPr>
              <a:t>WriteLine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p</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InitializedAge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001080"/>
                </a:solidFill>
                <a:effectLst/>
                <a:latin typeface="Consolas" panose="020B0609020204030204" pitchFamily="49" charset="0"/>
              </a:rPr>
              <a:t>WriteLine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p</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CapturedAge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err="1">
                <a:solidFill>
                  <a:srgbClr val="001080"/>
                </a:solidFill>
                <a:effectLst/>
                <a:latin typeface="Consolas" panose="020B0609020204030204" pitchFamily="49" charset="0"/>
              </a:rPr>
              <a:t>p</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InitializedAge</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001080"/>
                </a:solidFill>
                <a:effectLst/>
                <a:latin typeface="Consolas" panose="020B0609020204030204" pitchFamily="49" charset="0"/>
              </a:rPr>
              <a:t>WriteLine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p</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InitializedAge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2</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001080"/>
                </a:solidFill>
                <a:effectLst/>
                <a:latin typeface="Consolas" panose="020B0609020204030204" pitchFamily="49" charset="0"/>
              </a:rPr>
              <a:t>WriteLine</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p</a:t>
            </a:r>
            <a:r>
              <a:rPr lang="en-US" sz="1800" b="0" dirty="0" err="1">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CapturedAge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a:t>
            </a:r>
            <a:endParaRPr lang="en-US" sz="1800" b="0" dirty="0">
              <a:solidFill>
                <a:srgbClr val="3B3B3B"/>
              </a:solidFill>
              <a:effectLst/>
              <a:latin typeface="Consolas" panose="020B0609020204030204" pitchFamily="49" charset="0"/>
            </a:endParaRPr>
          </a:p>
        </p:txBody>
      </p:sp>
      <p:sp>
        <p:nvSpPr>
          <p:cNvPr id="6" name="TextBox 5">
            <a:extLst>
              <a:ext uri="{FF2B5EF4-FFF2-40B4-BE49-F238E27FC236}">
                <a16:creationId xmlns:a16="http://schemas.microsoft.com/office/drawing/2014/main" id="{578A2426-34B3-657F-600C-763D4381EE77}"/>
              </a:ext>
            </a:extLst>
          </p:cNvPr>
          <p:cNvSpPr txBox="1"/>
          <p:nvPr/>
        </p:nvSpPr>
        <p:spPr>
          <a:xfrm>
            <a:off x="838200" y="5294507"/>
            <a:ext cx="10515600" cy="892552"/>
          </a:xfrm>
          <a:prstGeom prst="rect">
            <a:avLst/>
          </a:prstGeom>
          <a:noFill/>
        </p:spPr>
        <p:txBody>
          <a:bodyPr wrap="square">
            <a:spAutoFit/>
          </a:bodyPr>
          <a:lstStyle/>
          <a:p>
            <a:endParaRPr lang="en-US" sz="1300" dirty="0"/>
          </a:p>
          <a:p>
            <a:endParaRPr lang="en-US" sz="1300" dirty="0"/>
          </a:p>
          <a:p>
            <a:endParaRPr lang="en-US" sz="1300" dirty="0"/>
          </a:p>
          <a:p>
            <a:r>
              <a:rPr lang="en-US" sz="1300" dirty="0">
                <a:hlinkClick r:id="rId3"/>
              </a:rPr>
              <a:t>https://learn.microsoft.com/en-us/dotnet/csharp/language-reference/proposals/csharp-12.0/primary-constructors#double-storage-warnings</a:t>
            </a:r>
            <a:r>
              <a:rPr lang="en-US" sz="1300" dirty="0"/>
              <a:t> </a:t>
            </a:r>
            <a:endParaRPr lang="ru-RU" sz="1300" dirty="0"/>
          </a:p>
        </p:txBody>
      </p:sp>
      <p:sp>
        <p:nvSpPr>
          <p:cNvPr id="5" name="Номер слайда 4">
            <a:extLst>
              <a:ext uri="{FF2B5EF4-FFF2-40B4-BE49-F238E27FC236}">
                <a16:creationId xmlns:a16="http://schemas.microsoft.com/office/drawing/2014/main" id="{14412995-E842-EC87-B727-C699CC7AC6D7}"/>
              </a:ext>
            </a:extLst>
          </p:cNvPr>
          <p:cNvSpPr>
            <a:spLocks noGrp="1"/>
          </p:cNvSpPr>
          <p:nvPr>
            <p:ph type="sldNum" sz="quarter" idx="12"/>
          </p:nvPr>
        </p:nvSpPr>
        <p:spPr/>
        <p:txBody>
          <a:bodyPr/>
          <a:lstStyle/>
          <a:p>
            <a:fld id="{F8C669BE-477D-42CA-A759-78A8F38A317E}" type="slidenum">
              <a:rPr lang="ru-RU" smtClean="0"/>
              <a:t>18</a:t>
            </a:fld>
            <a:endParaRPr lang="ru-RU"/>
          </a:p>
        </p:txBody>
      </p:sp>
    </p:spTree>
    <p:extLst>
      <p:ext uri="{BB962C8B-B14F-4D97-AF65-F5344CB8AC3E}">
        <p14:creationId xmlns:p14="http://schemas.microsoft.com/office/powerpoint/2010/main" val="2876919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DEC728-57E0-A14F-495B-CF1CA31F4F3B}"/>
              </a:ext>
            </a:extLst>
          </p:cNvPr>
          <p:cNvSpPr>
            <a:spLocks noGrp="1"/>
          </p:cNvSpPr>
          <p:nvPr>
            <p:ph type="title"/>
          </p:nvPr>
        </p:nvSpPr>
        <p:spPr/>
        <p:txBody>
          <a:bodyPr/>
          <a:lstStyle/>
          <a:p>
            <a:r>
              <a:rPr lang="ru-RU" dirty="0"/>
              <a:t>Почему так случилось?</a:t>
            </a:r>
          </a:p>
        </p:txBody>
      </p:sp>
      <p:sp>
        <p:nvSpPr>
          <p:cNvPr id="3" name="Объект 2">
            <a:extLst>
              <a:ext uri="{FF2B5EF4-FFF2-40B4-BE49-F238E27FC236}">
                <a16:creationId xmlns:a16="http://schemas.microsoft.com/office/drawing/2014/main" id="{43F79CD7-D9AC-7A21-1C5B-1BB734122CDA}"/>
              </a:ext>
            </a:extLst>
          </p:cNvPr>
          <p:cNvSpPr>
            <a:spLocks noGrp="1"/>
          </p:cNvSpPr>
          <p:nvPr>
            <p:ph idx="1"/>
          </p:nvPr>
        </p:nvSpPr>
        <p:spPr/>
        <p:txBody>
          <a:bodyPr>
            <a:normAutofit/>
          </a:bodyPr>
          <a:lstStyle/>
          <a:p>
            <a:pPr marL="0" indent="0">
              <a:buNone/>
            </a:pPr>
            <a:r>
              <a:rPr lang="ru-RU" dirty="0"/>
              <a:t>… </a:t>
            </a:r>
            <a:r>
              <a:rPr lang="en-US" dirty="0"/>
              <a:t>But it would also lead to surprising differences from how parameters and locals are captured elsewhere in C#. </a:t>
            </a:r>
            <a:r>
              <a:rPr lang="ru-RU" dirty="0"/>
              <a:t> …</a:t>
            </a:r>
          </a:p>
          <a:p>
            <a:pPr marL="0" indent="0">
              <a:buNone/>
            </a:pPr>
            <a:r>
              <a:rPr lang="en-US" dirty="0"/>
              <a:t>Another problem often raised with this approach is that many developers have different naming conventions for parameters and fields. Which should be used for the primary constructor parameter? Either choice would lead to inconsistency with the rest of the code.</a:t>
            </a:r>
            <a:endParaRPr lang="ru-RU" dirty="0"/>
          </a:p>
          <a:p>
            <a:pPr marL="0" indent="0">
              <a:buNone/>
            </a:pPr>
            <a:endParaRPr lang="ru-RU" dirty="0"/>
          </a:p>
          <a:p>
            <a:pPr marL="0" indent="0">
              <a:buNone/>
            </a:pPr>
            <a:r>
              <a:rPr lang="en-US" sz="1500" dirty="0">
                <a:hlinkClick r:id="rId3"/>
              </a:rPr>
              <a:t>https://github.com/dotnet/csharplang/blob/main/proposals/csharp-12.0/primary-constructors.md#explicit-generated-fields</a:t>
            </a:r>
            <a:r>
              <a:rPr lang="ru-RU" sz="1500" dirty="0"/>
              <a:t> </a:t>
            </a:r>
          </a:p>
        </p:txBody>
      </p:sp>
      <p:sp>
        <p:nvSpPr>
          <p:cNvPr id="4" name="Номер слайда 3">
            <a:extLst>
              <a:ext uri="{FF2B5EF4-FFF2-40B4-BE49-F238E27FC236}">
                <a16:creationId xmlns:a16="http://schemas.microsoft.com/office/drawing/2014/main" id="{2CF152B4-9BDC-81B5-7BA0-FBC53F94DD76}"/>
              </a:ext>
            </a:extLst>
          </p:cNvPr>
          <p:cNvSpPr>
            <a:spLocks noGrp="1"/>
          </p:cNvSpPr>
          <p:nvPr>
            <p:ph type="sldNum" sz="quarter" idx="12"/>
          </p:nvPr>
        </p:nvSpPr>
        <p:spPr/>
        <p:txBody>
          <a:bodyPr/>
          <a:lstStyle/>
          <a:p>
            <a:fld id="{F8C669BE-477D-42CA-A759-78A8F38A317E}" type="slidenum">
              <a:rPr lang="ru-RU" smtClean="0"/>
              <a:t>19</a:t>
            </a:fld>
            <a:endParaRPr lang="ru-RU"/>
          </a:p>
        </p:txBody>
      </p:sp>
    </p:spTree>
    <p:extLst>
      <p:ext uri="{BB962C8B-B14F-4D97-AF65-F5344CB8AC3E}">
        <p14:creationId xmlns:p14="http://schemas.microsoft.com/office/powerpoint/2010/main" val="1052811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99C063A1-5179-E6AD-C5CF-22FC42DCA5EB}"/>
              </a:ext>
            </a:extLst>
          </p:cNvPr>
          <p:cNvSpPr>
            <a:spLocks noGrp="1"/>
          </p:cNvSpPr>
          <p:nvPr>
            <p:ph type="ctrTitle"/>
          </p:nvPr>
        </p:nvSpPr>
        <p:spPr/>
        <p:txBody>
          <a:bodyPr/>
          <a:lstStyle/>
          <a:p>
            <a:r>
              <a:rPr lang="ru-RU" dirty="0"/>
              <a:t>Что с этим делать?</a:t>
            </a:r>
          </a:p>
        </p:txBody>
      </p:sp>
      <p:sp>
        <p:nvSpPr>
          <p:cNvPr id="5" name="Подзаголовок 4">
            <a:extLst>
              <a:ext uri="{FF2B5EF4-FFF2-40B4-BE49-F238E27FC236}">
                <a16:creationId xmlns:a16="http://schemas.microsoft.com/office/drawing/2014/main" id="{F30EFF8A-60F9-D8AA-3716-E36FC085D81B}"/>
              </a:ext>
            </a:extLst>
          </p:cNvPr>
          <p:cNvSpPr>
            <a:spLocks noGrp="1"/>
          </p:cNvSpPr>
          <p:nvPr>
            <p:ph type="subTitle" idx="1"/>
          </p:nvPr>
        </p:nvSpPr>
        <p:spPr/>
        <p:txBody>
          <a:bodyPr/>
          <a:lstStyle/>
          <a:p>
            <a:endParaRPr lang="ru-RU"/>
          </a:p>
        </p:txBody>
      </p:sp>
      <p:sp>
        <p:nvSpPr>
          <p:cNvPr id="2" name="Номер слайда 1">
            <a:extLst>
              <a:ext uri="{FF2B5EF4-FFF2-40B4-BE49-F238E27FC236}">
                <a16:creationId xmlns:a16="http://schemas.microsoft.com/office/drawing/2014/main" id="{FA24F463-A657-A428-F935-3EAF3F729835}"/>
              </a:ext>
            </a:extLst>
          </p:cNvPr>
          <p:cNvSpPr>
            <a:spLocks noGrp="1"/>
          </p:cNvSpPr>
          <p:nvPr>
            <p:ph type="sldNum" sz="quarter" idx="12"/>
          </p:nvPr>
        </p:nvSpPr>
        <p:spPr/>
        <p:txBody>
          <a:bodyPr/>
          <a:lstStyle/>
          <a:p>
            <a:fld id="{F8C669BE-477D-42CA-A759-78A8F38A317E}" type="slidenum">
              <a:rPr lang="ru-RU" smtClean="0"/>
              <a:t>20</a:t>
            </a:fld>
            <a:endParaRPr lang="ru-RU"/>
          </a:p>
        </p:txBody>
      </p:sp>
    </p:spTree>
    <p:extLst>
      <p:ext uri="{BB962C8B-B14F-4D97-AF65-F5344CB8AC3E}">
        <p14:creationId xmlns:p14="http://schemas.microsoft.com/office/powerpoint/2010/main" val="1899158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13827E-C0C6-664D-1E27-55FB94378939}"/>
              </a:ext>
            </a:extLst>
          </p:cNvPr>
          <p:cNvSpPr>
            <a:spLocks noGrp="1"/>
          </p:cNvSpPr>
          <p:nvPr>
            <p:ph type="title"/>
          </p:nvPr>
        </p:nvSpPr>
        <p:spPr/>
        <p:txBody>
          <a:bodyPr/>
          <a:lstStyle/>
          <a:p>
            <a:r>
              <a:rPr lang="ru-RU" dirty="0"/>
              <a:t>Смириться</a:t>
            </a:r>
          </a:p>
        </p:txBody>
      </p:sp>
      <p:sp>
        <p:nvSpPr>
          <p:cNvPr id="3" name="Объект 2">
            <a:extLst>
              <a:ext uri="{FF2B5EF4-FFF2-40B4-BE49-F238E27FC236}">
                <a16:creationId xmlns:a16="http://schemas.microsoft.com/office/drawing/2014/main" id="{B3D4B57A-ABCF-A976-73C9-EAC83FDE48C4}"/>
              </a:ext>
            </a:extLst>
          </p:cNvPr>
          <p:cNvSpPr>
            <a:spLocks noGrp="1"/>
          </p:cNvSpPr>
          <p:nvPr>
            <p:ph idx="1"/>
          </p:nvPr>
        </p:nvSpPr>
        <p:spPr/>
        <p:txBody>
          <a:bodyPr/>
          <a:lstStyle/>
          <a:p>
            <a:r>
              <a:rPr lang="ru-RU" dirty="0"/>
              <a:t>Кортежи (</a:t>
            </a:r>
            <a:r>
              <a:rPr lang="en-US" dirty="0"/>
              <a:t>tuple) </a:t>
            </a:r>
            <a:r>
              <a:rPr lang="ru-RU" dirty="0"/>
              <a:t>изменяемые – но это никого не смущает</a:t>
            </a:r>
          </a:p>
        </p:txBody>
      </p:sp>
      <p:sp>
        <p:nvSpPr>
          <p:cNvPr id="4" name="Номер слайда 3">
            <a:extLst>
              <a:ext uri="{FF2B5EF4-FFF2-40B4-BE49-F238E27FC236}">
                <a16:creationId xmlns:a16="http://schemas.microsoft.com/office/drawing/2014/main" id="{2F1141B4-58F5-38A9-88B6-608B6A3E7C64}"/>
              </a:ext>
            </a:extLst>
          </p:cNvPr>
          <p:cNvSpPr>
            <a:spLocks noGrp="1"/>
          </p:cNvSpPr>
          <p:nvPr>
            <p:ph type="sldNum" sz="quarter" idx="12"/>
          </p:nvPr>
        </p:nvSpPr>
        <p:spPr/>
        <p:txBody>
          <a:bodyPr/>
          <a:lstStyle/>
          <a:p>
            <a:fld id="{F8C669BE-477D-42CA-A759-78A8F38A317E}" type="slidenum">
              <a:rPr lang="ru-RU" smtClean="0"/>
              <a:t>21</a:t>
            </a:fld>
            <a:endParaRPr lang="ru-RU"/>
          </a:p>
        </p:txBody>
      </p:sp>
    </p:spTree>
    <p:extLst>
      <p:ext uri="{BB962C8B-B14F-4D97-AF65-F5344CB8AC3E}">
        <p14:creationId xmlns:p14="http://schemas.microsoft.com/office/powerpoint/2010/main" val="850785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2633C1-04E4-8BA0-E2DC-86811B2EA8A8}"/>
              </a:ext>
            </a:extLst>
          </p:cNvPr>
          <p:cNvSpPr>
            <a:spLocks noGrp="1"/>
          </p:cNvSpPr>
          <p:nvPr>
            <p:ph type="title"/>
          </p:nvPr>
        </p:nvSpPr>
        <p:spPr/>
        <p:txBody>
          <a:bodyPr/>
          <a:lstStyle/>
          <a:p>
            <a:r>
              <a:rPr lang="ru-RU" dirty="0"/>
              <a:t>Ждать</a:t>
            </a:r>
          </a:p>
        </p:txBody>
      </p:sp>
      <p:sp>
        <p:nvSpPr>
          <p:cNvPr id="3" name="Объект 2">
            <a:extLst>
              <a:ext uri="{FF2B5EF4-FFF2-40B4-BE49-F238E27FC236}">
                <a16:creationId xmlns:a16="http://schemas.microsoft.com/office/drawing/2014/main" id="{F430F60F-E7B8-0C32-2018-D4F7A9F98290}"/>
              </a:ext>
            </a:extLst>
          </p:cNvPr>
          <p:cNvSpPr>
            <a:spLocks noGrp="1"/>
          </p:cNvSpPr>
          <p:nvPr>
            <p:ph idx="1"/>
          </p:nvPr>
        </p:nvSpPr>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buNone/>
            </a:pPr>
            <a:endParaRPr lang="ru-RU" sz="3600" dirty="0">
              <a:latin typeface="Consolas" panose="020B0609020204030204" pitchFamily="49" charset="0"/>
            </a:endParaRPr>
          </a:p>
          <a:p>
            <a:pPr marL="0" indent="0">
              <a:buNone/>
            </a:pPr>
            <a:endParaRPr lang="ru-RU" sz="3600" dirty="0">
              <a:latin typeface="Consolas" panose="020B0609020204030204" pitchFamily="49" charset="0"/>
            </a:endParaRPr>
          </a:p>
          <a:p>
            <a:pPr marL="0" indent="0">
              <a:buNone/>
            </a:pPr>
            <a:endParaRPr lang="ru-RU" sz="3600" dirty="0">
              <a:latin typeface="Consolas" panose="020B0609020204030204" pitchFamily="49" charset="0"/>
            </a:endParaRPr>
          </a:p>
          <a:p>
            <a:pPr marL="0" indent="0">
              <a:buNone/>
            </a:pPr>
            <a:endParaRPr lang="ru-RU" sz="3600" dirty="0">
              <a:latin typeface="Consolas" panose="020B0609020204030204" pitchFamily="49" charset="0"/>
            </a:endParaRPr>
          </a:p>
          <a:p>
            <a:pPr marL="0" indent="0">
              <a:buNone/>
            </a:pPr>
            <a:r>
              <a:rPr lang="en-US" sz="2000" dirty="0">
                <a:hlinkClick r:id="rId3"/>
              </a:rPr>
              <a:t>https://github.com/dotnet/csharplang/blob/main/proposals/readonly-parameters.md</a:t>
            </a:r>
          </a:p>
          <a:p>
            <a:pPr marL="0" indent="0">
              <a:buNone/>
            </a:pPr>
            <a:r>
              <a:rPr lang="en-US" sz="2000" dirty="0">
                <a:hlinkClick r:id="rId3"/>
              </a:rPr>
              <a:t>https://github.com/dotnet/csharplang/blob/main/meetings/2023/LDM-2023-07-26.md</a:t>
            </a:r>
            <a:endParaRPr lang="ru-RU" sz="2000" dirty="0"/>
          </a:p>
          <a:p>
            <a:pPr marL="0" indent="0">
              <a:buNone/>
            </a:pPr>
            <a:r>
              <a:rPr lang="en-US" sz="2000" dirty="0">
                <a:hlinkClick r:id="rId4"/>
              </a:rPr>
              <a:t>https://github.com/dotnet/csharplang/blob/main/meetings/2023/LDM-2023-07-31.md</a:t>
            </a:r>
            <a:r>
              <a:rPr lang="ru-RU" sz="2000" dirty="0"/>
              <a:t> </a:t>
            </a:r>
            <a:endParaRPr lang="ru-RU" dirty="0">
              <a:latin typeface="Consolas" panose="020B0609020204030204" pitchFamily="49" charset="0"/>
            </a:endParaRPr>
          </a:p>
        </p:txBody>
      </p:sp>
      <p:sp>
        <p:nvSpPr>
          <p:cNvPr id="4" name="Номер слайда 3">
            <a:extLst>
              <a:ext uri="{FF2B5EF4-FFF2-40B4-BE49-F238E27FC236}">
                <a16:creationId xmlns:a16="http://schemas.microsoft.com/office/drawing/2014/main" id="{45424360-E6E4-1F19-CED8-ABAB03CB6F4E}"/>
              </a:ext>
            </a:extLst>
          </p:cNvPr>
          <p:cNvSpPr>
            <a:spLocks noGrp="1"/>
          </p:cNvSpPr>
          <p:nvPr>
            <p:ph type="sldNum" sz="quarter" idx="12"/>
          </p:nvPr>
        </p:nvSpPr>
        <p:spPr/>
        <p:txBody>
          <a:bodyPr/>
          <a:lstStyle/>
          <a:p>
            <a:fld id="{F8C669BE-477D-42CA-A759-78A8F38A317E}" type="slidenum">
              <a:rPr lang="ru-RU" smtClean="0"/>
              <a:t>22</a:t>
            </a:fld>
            <a:endParaRPr lang="ru-RU"/>
          </a:p>
        </p:txBody>
      </p:sp>
    </p:spTree>
    <p:extLst>
      <p:ext uri="{BB962C8B-B14F-4D97-AF65-F5344CB8AC3E}">
        <p14:creationId xmlns:p14="http://schemas.microsoft.com/office/powerpoint/2010/main" val="3084441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063AD3-A56D-7C2E-0D04-C34AD3EAD83D}"/>
              </a:ext>
            </a:extLst>
          </p:cNvPr>
          <p:cNvSpPr>
            <a:spLocks noGrp="1"/>
          </p:cNvSpPr>
          <p:nvPr>
            <p:ph type="title"/>
          </p:nvPr>
        </p:nvSpPr>
        <p:spPr/>
        <p:txBody>
          <a:bodyPr/>
          <a:lstStyle/>
          <a:p>
            <a:r>
              <a:rPr lang="en-US" dirty="0"/>
              <a:t>Source-</a:t>
            </a:r>
            <a:r>
              <a:rPr lang="ru-RU" dirty="0"/>
              <a:t>генератор</a:t>
            </a:r>
          </a:p>
        </p:txBody>
      </p:sp>
      <p:sp>
        <p:nvSpPr>
          <p:cNvPr id="3" name="Объект 2">
            <a:extLst>
              <a:ext uri="{FF2B5EF4-FFF2-40B4-BE49-F238E27FC236}">
                <a16:creationId xmlns:a16="http://schemas.microsoft.com/office/drawing/2014/main" id="{9EE7A58E-DF9E-5F1D-6EE3-E43A8E138085}"/>
              </a:ext>
            </a:extLst>
          </p:cNvPr>
          <p:cNvSpPr>
            <a:spLocks noGrp="1"/>
          </p:cNvSpPr>
          <p:nvPr>
            <p:ph sz="half" idx="1"/>
          </p:nvPr>
        </p:nvSpPr>
        <p:spPr>
          <a:xfrm>
            <a:off x="838200" y="1825625"/>
            <a:ext cx="5181600" cy="3982006"/>
          </a:xfrm>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using</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PrimaryParameter</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SG</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0000FF"/>
                </a:solidFill>
                <a:effectLst/>
                <a:latin typeface="Consolas" panose="020B0609020204030204" pitchFamily="49" charset="0"/>
              </a:rPr>
              <a:t>var</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p</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0000FF"/>
                </a:solidFill>
                <a:effectLst/>
                <a:latin typeface="Consolas" panose="020B0609020204030204" pitchFamily="49" charset="0"/>
              </a:rPr>
              <a:t>partial</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001080"/>
                </a:solidFill>
                <a:effectLst/>
                <a:latin typeface="Consolas" panose="020B0609020204030204" pitchFamily="49" charset="0"/>
              </a:rPr>
              <a:t>Field</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GetAgeOk</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008000"/>
                </a:solidFill>
                <a:effectLst/>
                <a:latin typeface="Consolas" panose="020B0609020204030204" pitchFamily="49" charset="0"/>
              </a:rPr>
              <a:t>    // Error PC01 : Can't access a primary parameter ('age') with a [Field] [</a:t>
            </a:r>
            <a:r>
              <a:rPr lang="en-US" sz="1800" b="0" dirty="0" err="1">
                <a:solidFill>
                  <a:srgbClr val="008000"/>
                </a:solidFill>
                <a:effectLst/>
                <a:latin typeface="Consolas" panose="020B0609020204030204" pitchFamily="49" charset="0"/>
              </a:rPr>
              <a:t>RefField</a:t>
            </a:r>
            <a:r>
              <a:rPr lang="en-US" sz="1800" b="0" dirty="0">
                <a:solidFill>
                  <a:srgbClr val="008000"/>
                </a:solidFill>
                <a:effectLst/>
                <a:latin typeface="Consolas" panose="020B0609020204030204" pitchFamily="49" charset="0"/>
              </a:rPr>
              <a:t>], [Property] or [</a:t>
            </a:r>
            <a:r>
              <a:rPr lang="en-US" sz="1800" b="0" dirty="0" err="1">
                <a:solidFill>
                  <a:srgbClr val="008000"/>
                </a:solidFill>
                <a:effectLst/>
                <a:latin typeface="Consolas" panose="020B0609020204030204" pitchFamily="49" charset="0"/>
              </a:rPr>
              <a:t>DoNotUse</a:t>
            </a:r>
            <a:r>
              <a:rPr lang="en-US" sz="1800" b="0" dirty="0">
                <a:solidFill>
                  <a:srgbClr val="008000"/>
                </a:solidFill>
                <a:effectLst/>
                <a:latin typeface="Consolas" panose="020B0609020204030204" pitchFamily="49" charset="0"/>
              </a:rPr>
              <a:t>] attribute, use '_age'</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public</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GetAgeError</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=&gt;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4" name="Объект 3">
            <a:extLst>
              <a:ext uri="{FF2B5EF4-FFF2-40B4-BE49-F238E27FC236}">
                <a16:creationId xmlns:a16="http://schemas.microsoft.com/office/drawing/2014/main" id="{B6239AF0-0F83-8E3E-C285-23E79D52AFBF}"/>
              </a:ext>
            </a:extLst>
          </p:cNvPr>
          <p:cNvSpPr>
            <a:spLocks noGrp="1"/>
          </p:cNvSpPr>
          <p:nvPr>
            <p:ph sz="half" idx="2"/>
          </p:nvPr>
        </p:nvSpPr>
        <p:spPr/>
        <p:txBody>
          <a:bodyPr>
            <a:normAutofit/>
          </a:bodyPr>
          <a:lstStyle/>
          <a:p>
            <a:pPr marL="0" indent="0">
              <a:lnSpc>
                <a:spcPct val="100000"/>
              </a:lnSpc>
              <a:spcBef>
                <a:spcPts val="0"/>
              </a:spcBef>
              <a:buNone/>
            </a:pPr>
            <a:r>
              <a:rPr lang="en-US" sz="1800" b="0" dirty="0">
                <a:solidFill>
                  <a:srgbClr val="008000"/>
                </a:solidFill>
                <a:effectLst/>
                <a:latin typeface="Consolas" panose="020B0609020204030204" pitchFamily="49" charset="0"/>
              </a:rPr>
              <a:t>// &lt;auto-generated/&gt;</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0000FF"/>
                </a:solidFill>
                <a:effectLst/>
                <a:latin typeface="Consolas" panose="020B0609020204030204" pitchFamily="49" charset="0"/>
              </a:rPr>
              <a:t>partial</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private</a:t>
            </a: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readonly</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_age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033C4138-69E2-94E0-CA6E-55AB2822E42C}"/>
              </a:ext>
            </a:extLst>
          </p:cNvPr>
          <p:cNvSpPr txBox="1"/>
          <p:nvPr/>
        </p:nvSpPr>
        <p:spPr>
          <a:xfrm>
            <a:off x="838200" y="5807631"/>
            <a:ext cx="6096000" cy="369332"/>
          </a:xfrm>
          <a:prstGeom prst="rect">
            <a:avLst/>
          </a:prstGeom>
          <a:noFill/>
        </p:spPr>
        <p:txBody>
          <a:bodyPr wrap="square">
            <a:spAutoFit/>
          </a:bodyPr>
          <a:lstStyle/>
          <a:p>
            <a:r>
              <a:rPr lang="en-US" dirty="0">
                <a:hlinkClick r:id="rId3"/>
              </a:rPr>
              <a:t>https://github.com/FaustVX/PrimaryParameter</a:t>
            </a:r>
            <a:r>
              <a:rPr lang="ru-RU" dirty="0"/>
              <a:t> </a:t>
            </a:r>
          </a:p>
        </p:txBody>
      </p:sp>
      <p:sp>
        <p:nvSpPr>
          <p:cNvPr id="5" name="Номер слайда 4">
            <a:extLst>
              <a:ext uri="{FF2B5EF4-FFF2-40B4-BE49-F238E27FC236}">
                <a16:creationId xmlns:a16="http://schemas.microsoft.com/office/drawing/2014/main" id="{3E496678-983D-4353-2F39-8190CE8811B7}"/>
              </a:ext>
            </a:extLst>
          </p:cNvPr>
          <p:cNvSpPr>
            <a:spLocks noGrp="1"/>
          </p:cNvSpPr>
          <p:nvPr>
            <p:ph type="sldNum" sz="quarter" idx="12"/>
          </p:nvPr>
        </p:nvSpPr>
        <p:spPr/>
        <p:txBody>
          <a:bodyPr/>
          <a:lstStyle/>
          <a:p>
            <a:fld id="{F8C669BE-477D-42CA-A759-78A8F38A317E}" type="slidenum">
              <a:rPr lang="ru-RU" smtClean="0"/>
              <a:t>23</a:t>
            </a:fld>
            <a:endParaRPr lang="ru-RU"/>
          </a:p>
        </p:txBody>
      </p:sp>
    </p:spTree>
    <p:extLst>
      <p:ext uri="{BB962C8B-B14F-4D97-AF65-F5344CB8AC3E}">
        <p14:creationId xmlns:p14="http://schemas.microsoft.com/office/powerpoint/2010/main" val="1238048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F1C4071A-76C1-ECC7-B62A-B1ACCBE46D05}"/>
              </a:ext>
            </a:extLst>
          </p:cNvPr>
          <p:cNvSpPr>
            <a:spLocks noGrp="1"/>
          </p:cNvSpPr>
          <p:nvPr>
            <p:ph type="ctrTitle"/>
          </p:nvPr>
        </p:nvSpPr>
        <p:spPr/>
        <p:txBody>
          <a:bodyPr/>
          <a:lstStyle/>
          <a:p>
            <a:r>
              <a:rPr lang="ru-RU" dirty="0"/>
              <a:t>А как в других языках?</a:t>
            </a:r>
          </a:p>
        </p:txBody>
      </p:sp>
      <p:sp>
        <p:nvSpPr>
          <p:cNvPr id="9" name="Подзаголовок 8">
            <a:extLst>
              <a:ext uri="{FF2B5EF4-FFF2-40B4-BE49-F238E27FC236}">
                <a16:creationId xmlns:a16="http://schemas.microsoft.com/office/drawing/2014/main" id="{35D0F2CD-4780-4145-6523-5FBB88E1EC82}"/>
              </a:ext>
            </a:extLst>
          </p:cNvPr>
          <p:cNvSpPr>
            <a:spLocks noGrp="1"/>
          </p:cNvSpPr>
          <p:nvPr>
            <p:ph type="subTitle" idx="1"/>
          </p:nvPr>
        </p:nvSpPr>
        <p:spPr/>
        <p:txBody>
          <a:bodyPr/>
          <a:lstStyle/>
          <a:p>
            <a:endParaRPr lang="ru-RU"/>
          </a:p>
        </p:txBody>
      </p:sp>
      <p:sp>
        <p:nvSpPr>
          <p:cNvPr id="5" name="Номер слайда 4">
            <a:extLst>
              <a:ext uri="{FF2B5EF4-FFF2-40B4-BE49-F238E27FC236}">
                <a16:creationId xmlns:a16="http://schemas.microsoft.com/office/drawing/2014/main" id="{FACB801C-4C87-5EE2-A7EB-6607619DF363}"/>
              </a:ext>
            </a:extLst>
          </p:cNvPr>
          <p:cNvSpPr>
            <a:spLocks noGrp="1"/>
          </p:cNvSpPr>
          <p:nvPr>
            <p:ph type="sldNum" sz="quarter" idx="12"/>
          </p:nvPr>
        </p:nvSpPr>
        <p:spPr/>
        <p:txBody>
          <a:bodyPr/>
          <a:lstStyle/>
          <a:p>
            <a:fld id="{F8C669BE-477D-42CA-A759-78A8F38A317E}" type="slidenum">
              <a:rPr lang="ru-RU" smtClean="0"/>
              <a:t>24</a:t>
            </a:fld>
            <a:endParaRPr lang="ru-RU"/>
          </a:p>
        </p:txBody>
      </p:sp>
    </p:spTree>
    <p:extLst>
      <p:ext uri="{BB962C8B-B14F-4D97-AF65-F5344CB8AC3E}">
        <p14:creationId xmlns:p14="http://schemas.microsoft.com/office/powerpoint/2010/main" val="585475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36E5A0-699F-0221-BDA4-C0D950AF5FB1}"/>
              </a:ext>
            </a:extLst>
          </p:cNvPr>
          <p:cNvSpPr>
            <a:spLocks noGrp="1"/>
          </p:cNvSpPr>
          <p:nvPr>
            <p:ph type="title"/>
          </p:nvPr>
        </p:nvSpPr>
        <p:spPr/>
        <p:txBody>
          <a:bodyPr/>
          <a:lstStyle/>
          <a:p>
            <a:r>
              <a:rPr lang="en-US" dirty="0"/>
              <a:t>F#</a:t>
            </a:r>
            <a:endParaRPr lang="ru-RU" dirty="0"/>
          </a:p>
        </p:txBody>
      </p:sp>
      <p:sp>
        <p:nvSpPr>
          <p:cNvPr id="3" name="Объект 2">
            <a:extLst>
              <a:ext uri="{FF2B5EF4-FFF2-40B4-BE49-F238E27FC236}">
                <a16:creationId xmlns:a16="http://schemas.microsoft.com/office/drawing/2014/main" id="{96F53682-7E5F-838F-9E25-2C862C6F696A}"/>
              </a:ext>
            </a:extLst>
          </p:cNvPr>
          <p:cNvSpPr>
            <a:spLocks noGrp="1"/>
          </p:cNvSpPr>
          <p:nvPr>
            <p:ph idx="1"/>
          </p:nvPr>
        </p:nvSpPr>
        <p:spPr>
          <a:xfrm>
            <a:off x="838200" y="1825624"/>
            <a:ext cx="10515600" cy="4754079"/>
          </a:xfrm>
        </p:spPr>
        <p:txBody>
          <a:bodyPr>
            <a:normAutofit/>
          </a:bodyPr>
          <a:lstStyle/>
          <a:p>
            <a:pPr marL="0" indent="0">
              <a:lnSpc>
                <a:spcPct val="110000"/>
              </a:lnSpc>
              <a:spcBef>
                <a:spcPts val="0"/>
              </a:spcBef>
              <a:buNone/>
            </a:pPr>
            <a:r>
              <a:rPr lang="en-US" sz="1800" b="0" dirty="0">
                <a:solidFill>
                  <a:srgbClr val="0000FF"/>
                </a:solidFill>
                <a:effectLst/>
                <a:latin typeface="Consolas" panose="020B0609020204030204" pitchFamily="49" charset="0"/>
              </a:rPr>
              <a:t>type</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0000FF"/>
                </a:solidFill>
                <a:effectLst/>
                <a:latin typeface="Consolas" panose="020B0609020204030204" pitchFamily="49" charset="0"/>
              </a:rPr>
              <a:t>(</a:t>
            </a:r>
            <a:r>
              <a:rPr lang="en-US" sz="1800" b="0" dirty="0">
                <a:solidFill>
                  <a:srgbClr val="001080"/>
                </a:solidFill>
                <a:effectLst/>
                <a:latin typeface="Consolas" panose="020B0609020204030204" pitchFamily="49" charset="0"/>
              </a:rPr>
              <a:t>age</a:t>
            </a:r>
            <a:r>
              <a:rPr lang="en-US" sz="1800" b="0" dirty="0">
                <a:solidFill>
                  <a:srgbClr val="0000FF"/>
                </a:solidFill>
                <a:effectLst/>
                <a:latin typeface="Consolas" panose="020B0609020204030204" pitchFamily="49" charset="0"/>
              </a:rPr>
              <a:t>:</a:t>
            </a:r>
            <a:r>
              <a:rPr lang="en-US" sz="1800" b="0" dirty="0">
                <a:solidFill>
                  <a:srgbClr val="267F99"/>
                </a:solidFill>
                <a:effectLst/>
                <a:latin typeface="Consolas" panose="020B0609020204030204" pitchFamily="49" charset="0"/>
              </a:rPr>
              <a:t> int</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name</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p>
          <a:p>
            <a:pPr marL="0" indent="0">
              <a:lnSpc>
                <a:spcPct val="11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let</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ageField</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age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98658"/>
                </a:solidFill>
                <a:effectLst/>
                <a:latin typeface="Consolas" panose="020B0609020204030204" pitchFamily="49" charset="0"/>
              </a:rPr>
              <a:t>1</a:t>
            </a:r>
            <a:endParaRPr lang="en-US" sz="1800" b="0" dirty="0">
              <a:solidFill>
                <a:srgbClr val="3B3B3B"/>
              </a:solidFill>
              <a:effectLst/>
              <a:latin typeface="Consolas" panose="020B0609020204030204" pitchFamily="49" charset="0"/>
            </a:endParaRPr>
          </a:p>
          <a:p>
            <a:pPr marL="0" indent="0">
              <a:lnSpc>
                <a:spcPct val="11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AF00DB"/>
                </a:solidFill>
                <a:effectLst/>
                <a:latin typeface="Consolas" panose="020B0609020204030204" pitchFamily="49" charset="0"/>
              </a:rPr>
              <a:t>do</a:t>
            </a: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printfn</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"the </a:t>
            </a:r>
            <a:r>
              <a:rPr lang="en-US" sz="1800" b="0" dirty="0" err="1">
                <a:solidFill>
                  <a:srgbClr val="A31515"/>
                </a:solidFill>
                <a:effectLst/>
                <a:latin typeface="Consolas" panose="020B0609020204030204" pitchFamily="49" charset="0"/>
              </a:rPr>
              <a:t>ageField</a:t>
            </a:r>
            <a:r>
              <a:rPr lang="en-US" sz="1800" b="0" dirty="0">
                <a:solidFill>
                  <a:srgbClr val="A31515"/>
                </a:solidFill>
                <a:effectLst/>
                <a:latin typeface="Consolas" panose="020B0609020204030204" pitchFamily="49" charset="0"/>
              </a:rPr>
              <a:t> is now </a:t>
            </a:r>
            <a:r>
              <a:rPr lang="en-US" sz="1800" b="0" dirty="0">
                <a:solidFill>
                  <a:srgbClr val="0000FF"/>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i</a:t>
            </a:r>
            <a:r>
              <a:rPr lang="en-US" sz="1800" b="0" dirty="0">
                <a:solidFill>
                  <a:srgbClr val="A31515"/>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ageField</a:t>
            </a:r>
            <a:endParaRPr lang="en-US" sz="1800" b="0" dirty="0">
              <a:solidFill>
                <a:srgbClr val="3B3B3B"/>
              </a:solidFill>
              <a:effectLst/>
              <a:latin typeface="Consolas" panose="020B0609020204030204" pitchFamily="49" charset="0"/>
            </a:endParaRPr>
          </a:p>
          <a:p>
            <a:pPr marL="0" indent="0">
              <a:lnSpc>
                <a:spcPct val="11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member</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this.Age</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age</a:t>
            </a:r>
          </a:p>
          <a:p>
            <a:pPr marL="0" indent="0">
              <a:lnSpc>
                <a:spcPct val="11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member</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this.GetAge</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ageField</a:t>
            </a:r>
            <a:endParaRPr lang="en-US" sz="1800" b="0" dirty="0">
              <a:solidFill>
                <a:srgbClr val="3B3B3B"/>
              </a:solidFill>
              <a:effectLst/>
              <a:latin typeface="Consolas" panose="020B0609020204030204" pitchFamily="49" charset="0"/>
            </a:endParaRPr>
          </a:p>
          <a:p>
            <a:pPr marL="0" indent="0">
              <a:lnSpc>
                <a:spcPct val="11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member</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this.GetName</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name</a:t>
            </a:r>
          </a:p>
          <a:p>
            <a:pPr marL="0" indent="0">
              <a:lnSpc>
                <a:spcPct val="110000"/>
              </a:lnSpc>
              <a:spcBef>
                <a:spcPts val="0"/>
              </a:spcBef>
              <a:buNone/>
            </a:pPr>
            <a:br>
              <a:rPr lang="en-US" sz="1800" b="0" dirty="0">
                <a:solidFill>
                  <a:srgbClr val="3B3B3B"/>
                </a:solidFill>
                <a:effectLst/>
                <a:latin typeface="Consolas" panose="020B0609020204030204" pitchFamily="49" charset="0"/>
              </a:rPr>
            </a:br>
            <a:r>
              <a:rPr lang="en-US" sz="1800" b="0" dirty="0">
                <a:solidFill>
                  <a:srgbClr val="0000FF"/>
                </a:solidFill>
                <a:effectLst/>
                <a:latin typeface="Consolas" panose="020B0609020204030204" pitchFamily="49" charset="0"/>
              </a:rPr>
              <a:t>let</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3B3B3B"/>
                </a:solidFill>
                <a:effectLst/>
                <a:latin typeface="Consolas" panose="020B0609020204030204" pitchFamily="49" charset="0"/>
              </a:rPr>
              <a:t> Person</a:t>
            </a:r>
            <a:r>
              <a:rPr lang="en-US" sz="1800" b="0" dirty="0">
                <a:solidFill>
                  <a:srgbClr val="0000FF"/>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"3"</a:t>
            </a:r>
            <a:r>
              <a:rPr lang="en-US" sz="1800" b="0" dirty="0">
                <a:solidFill>
                  <a:srgbClr val="0000FF"/>
                </a:solidFill>
                <a:effectLst/>
                <a:latin typeface="Consolas" panose="020B0609020204030204" pitchFamily="49" charset="0"/>
              </a:rPr>
              <a:t>)</a:t>
            </a:r>
            <a:endParaRPr lang="en-US" sz="1800" b="0" dirty="0">
              <a:solidFill>
                <a:srgbClr val="3B3B3B"/>
              </a:solidFill>
              <a:effectLst/>
              <a:latin typeface="Consolas" panose="020B0609020204030204" pitchFamily="49" charset="0"/>
            </a:endParaRPr>
          </a:p>
          <a:p>
            <a:pPr marL="0" indent="0">
              <a:lnSpc>
                <a:spcPct val="110000"/>
              </a:lnSpc>
              <a:spcBef>
                <a:spcPts val="0"/>
              </a:spcBef>
              <a:buNone/>
            </a:pPr>
            <a:r>
              <a:rPr lang="en-US" sz="1800" b="0" dirty="0" err="1">
                <a:solidFill>
                  <a:srgbClr val="3B3B3B"/>
                </a:solidFill>
                <a:effectLst/>
                <a:latin typeface="Consolas" panose="020B0609020204030204" pitchFamily="49" charset="0"/>
              </a:rPr>
              <a:t>printfn</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i</a:t>
            </a:r>
            <a:r>
              <a:rPr lang="en-US" sz="1800" b="0" dirty="0">
                <a:solidFill>
                  <a:srgbClr val="A31515"/>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&lt;|</a:t>
            </a: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person.Age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1</a:t>
            </a:r>
            <a:endParaRPr lang="en-US" sz="1800" b="0" dirty="0">
              <a:solidFill>
                <a:srgbClr val="3B3B3B"/>
              </a:solidFill>
              <a:effectLst/>
              <a:latin typeface="Consolas" panose="020B0609020204030204" pitchFamily="49" charset="0"/>
            </a:endParaRPr>
          </a:p>
          <a:p>
            <a:pPr marL="0" indent="0">
              <a:lnSpc>
                <a:spcPct val="110000"/>
              </a:lnSpc>
              <a:spcBef>
                <a:spcPts val="0"/>
              </a:spcBef>
              <a:buNone/>
            </a:pPr>
            <a:r>
              <a:rPr lang="en-US" sz="1800" b="0" dirty="0" err="1">
                <a:solidFill>
                  <a:srgbClr val="3B3B3B"/>
                </a:solidFill>
                <a:effectLst/>
                <a:latin typeface="Consolas" panose="020B0609020204030204" pitchFamily="49" charset="0"/>
              </a:rPr>
              <a:t>printfn</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i</a:t>
            </a:r>
            <a:r>
              <a:rPr lang="en-US" sz="1800" b="0" dirty="0">
                <a:solidFill>
                  <a:srgbClr val="A31515"/>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&lt;|</a:t>
            </a: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person.GetAge</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2</a:t>
            </a:r>
            <a:endParaRPr lang="en-US" sz="1800" b="0" dirty="0">
              <a:solidFill>
                <a:srgbClr val="3B3B3B"/>
              </a:solidFill>
              <a:effectLst/>
              <a:latin typeface="Consolas" panose="020B0609020204030204" pitchFamily="49" charset="0"/>
            </a:endParaRPr>
          </a:p>
          <a:p>
            <a:pPr marL="0" indent="0">
              <a:lnSpc>
                <a:spcPct val="110000"/>
              </a:lnSpc>
              <a:spcBef>
                <a:spcPts val="0"/>
              </a:spcBef>
              <a:buNone/>
            </a:pPr>
            <a:r>
              <a:rPr lang="en-US" sz="1800" b="0" dirty="0" err="1">
                <a:solidFill>
                  <a:srgbClr val="3B3B3B"/>
                </a:solidFill>
                <a:effectLst/>
                <a:latin typeface="Consolas" panose="020B0609020204030204" pitchFamily="49" charset="0"/>
              </a:rPr>
              <a:t>printfn</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%s</a:t>
            </a:r>
            <a:r>
              <a:rPr lang="en-US" sz="1800" b="0" dirty="0">
                <a:solidFill>
                  <a:srgbClr val="A31515"/>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&lt;|</a:t>
            </a: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person.GetName</a:t>
            </a:r>
            <a:r>
              <a:rPr lang="en-US" sz="1800" b="0" dirty="0">
                <a:solidFill>
                  <a:srgbClr val="0000FF"/>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3</a:t>
            </a:r>
            <a:endParaRPr lang="en-US" sz="1800" b="0" dirty="0">
              <a:solidFill>
                <a:srgbClr val="3B3B3B"/>
              </a:solidFill>
              <a:effectLst/>
              <a:latin typeface="Consolas" panose="020B0609020204030204" pitchFamily="49" charset="0"/>
            </a:endParaRPr>
          </a:p>
          <a:p>
            <a:pPr marL="0" indent="0">
              <a:spcBef>
                <a:spcPts val="0"/>
              </a:spcBef>
              <a:buNone/>
            </a:pPr>
            <a:endParaRPr lang="en-US" sz="1800" dirty="0">
              <a:solidFill>
                <a:srgbClr val="000000"/>
              </a:solidFill>
              <a:latin typeface="Cascadia Mono" panose="020B0609020000020004" pitchFamily="49" charset="0"/>
            </a:endParaRPr>
          </a:p>
          <a:p>
            <a:pPr marL="0" indent="0">
              <a:spcBef>
                <a:spcPts val="0"/>
              </a:spcBef>
              <a:buNone/>
            </a:pPr>
            <a:endParaRPr lang="en-US" sz="1800" dirty="0">
              <a:solidFill>
                <a:srgbClr val="000000"/>
              </a:solidFill>
              <a:latin typeface="Cascadia Mono" panose="020B0609020000020004" pitchFamily="49" charset="0"/>
            </a:endParaRPr>
          </a:p>
          <a:p>
            <a:pPr marL="0" indent="0">
              <a:spcBef>
                <a:spcPts val="0"/>
              </a:spcBef>
              <a:buNone/>
            </a:pPr>
            <a:endParaRPr lang="ru-RU" sz="1800" dirty="0">
              <a:solidFill>
                <a:srgbClr val="000000"/>
              </a:solidFill>
              <a:latin typeface="Cascadia Mono" panose="020B0609020000020004" pitchFamily="49" charset="0"/>
            </a:endParaRPr>
          </a:p>
          <a:p>
            <a:pPr marL="0" indent="0">
              <a:spcBef>
                <a:spcPts val="0"/>
              </a:spcBef>
              <a:buNone/>
            </a:pPr>
            <a:r>
              <a:rPr lang="en-US" sz="1400" dirty="0">
                <a:hlinkClick r:id="rId3"/>
              </a:rPr>
              <a:t>https://learn.microsoft.com/en-us/dotnet/fsharp/language-reference/members/constructors</a:t>
            </a:r>
            <a:r>
              <a:rPr lang="en-US" sz="1050" dirty="0">
                <a:solidFill>
                  <a:srgbClr val="000000"/>
                </a:solidFill>
                <a:latin typeface="Cascadia Mono" panose="020B0609020000020004" pitchFamily="49" charset="0"/>
              </a:rPr>
              <a:t> </a:t>
            </a:r>
          </a:p>
          <a:p>
            <a:pPr marL="0" indent="0">
              <a:spcBef>
                <a:spcPts val="0"/>
              </a:spcBef>
              <a:buNone/>
            </a:pPr>
            <a:r>
              <a:rPr lang="en-US" sz="1400" dirty="0">
                <a:hlinkClick r:id="rId4"/>
              </a:rPr>
              <a:t>https://fsharpforfunandprofit.com/posts/classes/</a:t>
            </a:r>
            <a:r>
              <a:rPr lang="en-US" sz="1050" dirty="0">
                <a:solidFill>
                  <a:srgbClr val="000000"/>
                </a:solidFill>
                <a:latin typeface="Cascadia Mono" panose="020B0609020000020004" pitchFamily="49" charset="0"/>
              </a:rPr>
              <a:t> </a:t>
            </a:r>
            <a:endParaRPr lang="ru-RU" sz="1400" dirty="0"/>
          </a:p>
        </p:txBody>
      </p:sp>
      <p:sp>
        <p:nvSpPr>
          <p:cNvPr id="4" name="Номер слайда 3">
            <a:extLst>
              <a:ext uri="{FF2B5EF4-FFF2-40B4-BE49-F238E27FC236}">
                <a16:creationId xmlns:a16="http://schemas.microsoft.com/office/drawing/2014/main" id="{4C2CFB8D-F411-547A-6397-45C8F620BA66}"/>
              </a:ext>
            </a:extLst>
          </p:cNvPr>
          <p:cNvSpPr>
            <a:spLocks noGrp="1"/>
          </p:cNvSpPr>
          <p:nvPr>
            <p:ph type="sldNum" sz="quarter" idx="12"/>
          </p:nvPr>
        </p:nvSpPr>
        <p:spPr/>
        <p:txBody>
          <a:bodyPr/>
          <a:lstStyle/>
          <a:p>
            <a:fld id="{F8C669BE-477D-42CA-A759-78A8F38A317E}" type="slidenum">
              <a:rPr lang="ru-RU" smtClean="0"/>
              <a:t>25</a:t>
            </a:fld>
            <a:endParaRPr lang="ru-RU"/>
          </a:p>
        </p:txBody>
      </p:sp>
    </p:spTree>
    <p:extLst>
      <p:ext uri="{BB962C8B-B14F-4D97-AF65-F5344CB8AC3E}">
        <p14:creationId xmlns:p14="http://schemas.microsoft.com/office/powerpoint/2010/main" val="3877260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FF3837-AE5C-B4EA-993C-6AF6AEDB17C8}"/>
              </a:ext>
            </a:extLst>
          </p:cNvPr>
          <p:cNvSpPr>
            <a:spLocks noGrp="1"/>
          </p:cNvSpPr>
          <p:nvPr>
            <p:ph type="title"/>
          </p:nvPr>
        </p:nvSpPr>
        <p:spPr/>
        <p:txBody>
          <a:bodyPr/>
          <a:lstStyle/>
          <a:p>
            <a:r>
              <a:rPr lang="en-US" dirty="0"/>
              <a:t>Kotlin</a:t>
            </a:r>
            <a:endParaRPr lang="ru-RU" dirty="0"/>
          </a:p>
        </p:txBody>
      </p:sp>
      <p:sp>
        <p:nvSpPr>
          <p:cNvPr id="3" name="Объект 2">
            <a:extLst>
              <a:ext uri="{FF2B5EF4-FFF2-40B4-BE49-F238E27FC236}">
                <a16:creationId xmlns:a16="http://schemas.microsoft.com/office/drawing/2014/main" id="{FB5B168D-83AE-2ED0-BD51-55B064C32111}"/>
              </a:ext>
            </a:extLst>
          </p:cNvPr>
          <p:cNvSpPr>
            <a:spLocks noGrp="1"/>
          </p:cNvSpPr>
          <p:nvPr>
            <p:ph sz="half" idx="1"/>
          </p:nvPr>
        </p:nvSpPr>
        <p:spPr>
          <a:xfrm>
            <a:off x="838200" y="1825625"/>
            <a:ext cx="5334000" cy="4351338"/>
          </a:xfrm>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class</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firstName</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0000FF"/>
                </a:solidFill>
                <a:effectLst/>
                <a:latin typeface="Consolas" panose="020B0609020204030204" pitchFamily="49" charset="0"/>
              </a:rPr>
              <a:t>val</a:t>
            </a:r>
            <a:r>
              <a:rPr lang="en-US" sz="1800" b="0" dirty="0">
                <a:solidFill>
                  <a:srgbClr val="3B3B3B"/>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lastName</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String</a:t>
            </a: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var</a:t>
            </a:r>
            <a:r>
              <a:rPr lang="en-US" sz="1800" b="0" dirty="0">
                <a:solidFill>
                  <a:srgbClr val="3B3B3B"/>
                </a:solidFill>
                <a:effectLst/>
                <a:latin typeface="Consolas" panose="020B0609020204030204" pitchFamily="49" charset="0"/>
              </a:rPr>
              <a:t> </a:t>
            </a:r>
            <a:r>
              <a:rPr lang="en-US" sz="1800" b="0" dirty="0">
                <a:solidFill>
                  <a:srgbClr val="001080"/>
                </a:solidFill>
                <a:effectLst/>
                <a:latin typeface="Consolas" panose="020B0609020204030204" pitchFamily="49" charset="0"/>
              </a:rPr>
              <a:t>age</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Int</a:t>
            </a:r>
            <a:r>
              <a:rPr lang="en-US" sz="1800" b="0" dirty="0">
                <a:solidFill>
                  <a:srgbClr val="3B3B3B"/>
                </a:solidFill>
                <a:effectLst/>
                <a:latin typeface="Consolas" panose="020B0609020204030204" pitchFamily="49" charset="0"/>
              </a:rPr>
              <a:t>) {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init</a:t>
            </a: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println</a:t>
            </a:r>
            <a:r>
              <a:rPr lang="en-US" sz="1800" b="0" dirty="0">
                <a:solidFill>
                  <a:srgbClr val="3B3B3B"/>
                </a:solidFill>
                <a:effectLst/>
                <a:latin typeface="Consolas" panose="020B0609020204030204" pitchFamily="49" charset="0"/>
              </a:rPr>
              <a:t>(</a:t>
            </a:r>
            <a:r>
              <a:rPr lang="en-US" sz="1800" b="0" dirty="0">
                <a:solidFill>
                  <a:srgbClr val="A31515"/>
                </a:solidFill>
                <a:effectLst/>
                <a:latin typeface="Consolas" panose="020B0609020204030204" pitchFamily="49" charset="0"/>
              </a:rPr>
              <a:t>"initializer $</a:t>
            </a:r>
            <a:r>
              <a:rPr lang="en-US" sz="1800" b="0" dirty="0" err="1">
                <a:solidFill>
                  <a:srgbClr val="A31515"/>
                </a:solidFill>
                <a:effectLst/>
                <a:latin typeface="Consolas" panose="020B0609020204030204" pitchFamily="49" charset="0"/>
              </a:rPr>
              <a:t>firstName</a:t>
            </a:r>
            <a:r>
              <a:rPr lang="en-US" sz="1800" b="0" dirty="0">
                <a:solidFill>
                  <a:srgbClr val="A31515"/>
                </a:solidFill>
                <a:effectLst/>
                <a:latin typeface="Consolas" panose="020B0609020204030204" pitchFamily="49" charset="0"/>
              </a:rPr>
              <a:t>"</a:t>
            </a:r>
            <a:r>
              <a:rPr lang="en-US" sz="1800" b="0" dirty="0">
                <a:solidFill>
                  <a:srgbClr val="3B3B3B"/>
                </a:solidFill>
                <a:effectLst/>
                <a:latin typeface="Consolas" panose="020B0609020204030204" pitchFamily="49" charset="0"/>
              </a:rPr>
              <a:t>)</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a:t>
            </a:r>
          </a:p>
        </p:txBody>
      </p:sp>
      <p:sp>
        <p:nvSpPr>
          <p:cNvPr id="5" name="Объект 4">
            <a:extLst>
              <a:ext uri="{FF2B5EF4-FFF2-40B4-BE49-F238E27FC236}">
                <a16:creationId xmlns:a16="http://schemas.microsoft.com/office/drawing/2014/main" id="{380B9C7F-14F5-0825-1AC0-91BD707B62C0}"/>
              </a:ext>
            </a:extLst>
          </p:cNvPr>
          <p:cNvSpPr>
            <a:spLocks noGrp="1"/>
          </p:cNvSpPr>
          <p:nvPr>
            <p:ph sz="half" idx="2"/>
          </p:nvPr>
        </p:nvSpPr>
        <p:spPr>
          <a:xfrm>
            <a:off x="6237514" y="1825625"/>
            <a:ext cx="5116286" cy="4351338"/>
          </a:xfrm>
        </p:spPr>
        <p:txBody>
          <a:bodyPr>
            <a:normAutofit/>
          </a:bodyPr>
          <a:lstStyle/>
          <a:p>
            <a:pPr marL="0" indent="0">
              <a:lnSpc>
                <a:spcPct val="100000"/>
              </a:lnSpc>
              <a:spcBef>
                <a:spcPts val="0"/>
              </a:spcBef>
              <a:buNone/>
            </a:pPr>
            <a:r>
              <a:rPr lang="en-US" sz="1800" b="0" dirty="0">
                <a:solidFill>
                  <a:srgbClr val="0000FF"/>
                </a:solidFill>
                <a:effectLst/>
                <a:latin typeface="Consolas" panose="020B0609020204030204" pitchFamily="49" charset="0"/>
              </a:rPr>
              <a:t>fun</a:t>
            </a:r>
            <a:r>
              <a:rPr lang="en-US" sz="1800" b="0" dirty="0">
                <a:solidFill>
                  <a:srgbClr val="3B3B3B"/>
                </a:solidFill>
                <a:effectLst/>
                <a:latin typeface="Consolas" panose="020B0609020204030204" pitchFamily="49" charset="0"/>
              </a:rPr>
              <a:t> </a:t>
            </a:r>
            <a:r>
              <a:rPr lang="en-US" sz="1800" b="0" dirty="0">
                <a:solidFill>
                  <a:srgbClr val="795E26"/>
                </a:solidFill>
                <a:effectLst/>
                <a:latin typeface="Consolas" panose="020B0609020204030204" pitchFamily="49" charset="0"/>
              </a:rPr>
              <a:t>main</a:t>
            </a: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initializer FN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a:solidFill>
                  <a:srgbClr val="0000FF"/>
                </a:solidFill>
                <a:effectLst/>
                <a:latin typeface="Consolas" panose="020B0609020204030204" pitchFamily="49" charset="0"/>
              </a:rPr>
              <a:t>var</a:t>
            </a:r>
            <a:r>
              <a:rPr lang="en-US" sz="1800" b="0" dirty="0">
                <a:solidFill>
                  <a:srgbClr val="3B3B3B"/>
                </a:solidFill>
                <a:effectLst/>
                <a:latin typeface="Consolas" panose="020B0609020204030204" pitchFamily="49" charset="0"/>
              </a:rPr>
              <a:t> person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267F99"/>
                </a:solidFill>
                <a:effectLst/>
                <a:latin typeface="Consolas" panose="020B0609020204030204" pitchFamily="49" charset="0"/>
              </a:rPr>
              <a:t>Person</a:t>
            </a:r>
            <a:r>
              <a:rPr lang="en-US" sz="1800" b="0" dirty="0">
                <a:solidFill>
                  <a:srgbClr val="3B3B3B"/>
                </a:solidFill>
                <a:effectLst/>
                <a:latin typeface="Consolas" panose="020B0609020204030204" pitchFamily="49" charset="0"/>
              </a:rPr>
              <a:t>(</a:t>
            </a:r>
            <a:r>
              <a:rPr lang="en-US" sz="1800" b="0" dirty="0">
                <a:solidFill>
                  <a:srgbClr val="A31515"/>
                </a:solidFill>
                <a:effectLst/>
                <a:latin typeface="Consolas" panose="020B0609020204030204" pitchFamily="49" charset="0"/>
              </a:rPr>
              <a:t>"FN"</a:t>
            </a:r>
            <a:r>
              <a:rPr lang="en-US" sz="1800" b="0" dirty="0">
                <a:solidFill>
                  <a:srgbClr val="3B3B3B"/>
                </a:solidFill>
                <a:effectLst/>
                <a:latin typeface="Consolas" panose="020B0609020204030204" pitchFamily="49" charset="0"/>
              </a:rPr>
              <a:t>, </a:t>
            </a:r>
            <a:r>
              <a:rPr lang="en-US" sz="1800" b="0" dirty="0">
                <a:solidFill>
                  <a:srgbClr val="A31515"/>
                </a:solidFill>
                <a:effectLst/>
                <a:latin typeface="Consolas" panose="020B0609020204030204" pitchFamily="49" charset="0"/>
              </a:rPr>
              <a:t>"LN"</a:t>
            </a:r>
            <a:r>
              <a:rPr lang="en-US" sz="1800" b="0" dirty="0">
                <a:solidFill>
                  <a:srgbClr val="3B3B3B"/>
                </a:solidFill>
                <a:effectLst/>
                <a:latin typeface="Consolas" panose="020B0609020204030204" pitchFamily="49" charset="0"/>
              </a:rPr>
              <a:t>, </a:t>
            </a:r>
            <a:r>
              <a:rPr lang="en-US" sz="1800" b="0" dirty="0">
                <a:solidFill>
                  <a:srgbClr val="098658"/>
                </a:solidFill>
                <a:effectLst/>
                <a:latin typeface="Consolas" panose="020B0609020204030204" pitchFamily="49" charset="0"/>
              </a:rPr>
              <a:t>1</a:t>
            </a: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println</a:t>
            </a:r>
            <a:r>
              <a:rPr lang="en-US" sz="1800" b="0" dirty="0">
                <a:solidFill>
                  <a:srgbClr val="3B3B3B"/>
                </a:solidFill>
                <a:effectLst/>
                <a:latin typeface="Consolas" panose="020B0609020204030204" pitchFamily="49" charset="0"/>
              </a:rPr>
              <a:t>(</a:t>
            </a:r>
            <a:r>
              <a:rPr lang="en-US" sz="1800" b="0" dirty="0" err="1">
                <a:solidFill>
                  <a:srgbClr val="3B3B3B"/>
                </a:solidFill>
                <a:effectLst/>
                <a:latin typeface="Consolas" panose="020B0609020204030204" pitchFamily="49" charset="0"/>
              </a:rPr>
              <a:t>person.lastName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LN</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3B3B3B"/>
                </a:solidFill>
                <a:effectLst/>
                <a:latin typeface="Consolas" panose="020B0609020204030204" pitchFamily="49" charset="0"/>
              </a:rPr>
              <a:t>person.age</a:t>
            </a:r>
            <a:r>
              <a:rPr lang="en-US" sz="1800" b="0" dirty="0">
                <a:solidFill>
                  <a:srgbClr val="3B3B3B"/>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r>
              <a:rPr lang="en-US" sz="1800" b="0" dirty="0">
                <a:solidFill>
                  <a:srgbClr val="3B3B3B"/>
                </a:solidFill>
                <a:effectLst/>
                <a:latin typeface="Consolas" panose="020B0609020204030204" pitchFamily="49" charset="0"/>
              </a:rPr>
              <a:t> </a:t>
            </a:r>
            <a:r>
              <a:rPr lang="en-US" sz="1800" b="0" dirty="0">
                <a:solidFill>
                  <a:srgbClr val="098658"/>
                </a:solidFill>
                <a:effectLst/>
                <a:latin typeface="Consolas" panose="020B0609020204030204" pitchFamily="49" charset="0"/>
              </a:rPr>
              <a:t>2</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    </a:t>
            </a:r>
            <a:r>
              <a:rPr lang="en-US" sz="1800" b="0" dirty="0" err="1">
                <a:solidFill>
                  <a:srgbClr val="795E26"/>
                </a:solidFill>
                <a:effectLst/>
                <a:latin typeface="Consolas" panose="020B0609020204030204" pitchFamily="49" charset="0"/>
              </a:rPr>
              <a:t>println</a:t>
            </a:r>
            <a:r>
              <a:rPr lang="en-US" sz="1800" b="0" dirty="0">
                <a:solidFill>
                  <a:srgbClr val="3B3B3B"/>
                </a:solidFill>
                <a:effectLst/>
                <a:latin typeface="Consolas" panose="020B0609020204030204" pitchFamily="49" charset="0"/>
              </a:rPr>
              <a:t>(</a:t>
            </a:r>
            <a:r>
              <a:rPr lang="en-US" sz="1800" b="0" dirty="0" err="1">
                <a:solidFill>
                  <a:srgbClr val="3B3B3B"/>
                </a:solidFill>
                <a:effectLst/>
                <a:latin typeface="Consolas" panose="020B0609020204030204" pitchFamily="49" charset="0"/>
              </a:rPr>
              <a:t>person.age</a:t>
            </a:r>
            <a:r>
              <a:rPr lang="en-US" sz="1800" b="0" dirty="0">
                <a:solidFill>
                  <a:srgbClr val="3B3B3B"/>
                </a:solidFill>
                <a:effectLst/>
                <a:latin typeface="Consolas" panose="020B0609020204030204" pitchFamily="49" charset="0"/>
              </a:rPr>
              <a:t>) </a:t>
            </a:r>
            <a:r>
              <a:rPr lang="en-US" sz="1800" b="0" dirty="0">
                <a:solidFill>
                  <a:srgbClr val="008000"/>
                </a:solidFill>
                <a:effectLst/>
                <a:latin typeface="Consolas" panose="020B0609020204030204" pitchFamily="49" charset="0"/>
              </a:rPr>
              <a:t>// 2</a:t>
            </a:r>
            <a:endParaRPr lang="en-US" sz="1800" b="0" dirty="0">
              <a:solidFill>
                <a:srgbClr val="3B3B3B"/>
              </a:solidFill>
              <a:effectLst/>
              <a:latin typeface="Consolas" panose="020B0609020204030204" pitchFamily="49" charset="0"/>
            </a:endParaRPr>
          </a:p>
          <a:p>
            <a:pPr marL="0" indent="0">
              <a:lnSpc>
                <a:spcPct val="100000"/>
              </a:lnSpc>
              <a:spcBef>
                <a:spcPts val="0"/>
              </a:spcBef>
              <a:buNone/>
            </a:pPr>
            <a:r>
              <a:rPr lang="en-US" sz="1800" b="0" dirty="0">
                <a:solidFill>
                  <a:srgbClr val="3B3B3B"/>
                </a:solidFill>
                <a:effectLst/>
                <a:latin typeface="Consolas" panose="020B0609020204030204" pitchFamily="49" charset="0"/>
              </a:rPr>
              <a:t>}</a:t>
            </a:r>
          </a:p>
          <a:p>
            <a:pPr marL="0" indent="0">
              <a:lnSpc>
                <a:spcPct val="100000"/>
              </a:lnSpc>
              <a:spcBef>
                <a:spcPts val="0"/>
              </a:spcBef>
              <a:buNone/>
            </a:pPr>
            <a:br>
              <a:rPr lang="en-US" sz="1800" b="0" dirty="0">
                <a:solidFill>
                  <a:srgbClr val="3B3B3B"/>
                </a:solidFill>
                <a:effectLst/>
                <a:latin typeface="Consolas" panose="020B0609020204030204" pitchFamily="49" charset="0"/>
              </a:rPr>
            </a:br>
            <a:endParaRPr lang="en-US" sz="1800" b="0" dirty="0">
              <a:solidFill>
                <a:srgbClr val="3B3B3B"/>
              </a:solidFill>
              <a:effectLst/>
              <a:latin typeface="Consolas" panose="020B0609020204030204" pitchFamily="49" charset="0"/>
            </a:endParaRPr>
          </a:p>
        </p:txBody>
      </p:sp>
      <p:sp>
        <p:nvSpPr>
          <p:cNvPr id="4" name="Номер слайда 3">
            <a:extLst>
              <a:ext uri="{FF2B5EF4-FFF2-40B4-BE49-F238E27FC236}">
                <a16:creationId xmlns:a16="http://schemas.microsoft.com/office/drawing/2014/main" id="{393189AD-D619-4289-9CC1-9A56A87FDFA7}"/>
              </a:ext>
            </a:extLst>
          </p:cNvPr>
          <p:cNvSpPr>
            <a:spLocks noGrp="1"/>
          </p:cNvSpPr>
          <p:nvPr>
            <p:ph type="sldNum" sz="quarter" idx="12"/>
          </p:nvPr>
        </p:nvSpPr>
        <p:spPr/>
        <p:txBody>
          <a:bodyPr/>
          <a:lstStyle/>
          <a:p>
            <a:fld id="{F8C669BE-477D-42CA-A759-78A8F38A317E}" type="slidenum">
              <a:rPr lang="ru-RU" smtClean="0"/>
              <a:t>26</a:t>
            </a:fld>
            <a:endParaRPr lang="ru-RU"/>
          </a:p>
        </p:txBody>
      </p:sp>
      <p:sp>
        <p:nvSpPr>
          <p:cNvPr id="7" name="TextBox 6">
            <a:extLst>
              <a:ext uri="{FF2B5EF4-FFF2-40B4-BE49-F238E27FC236}">
                <a16:creationId xmlns:a16="http://schemas.microsoft.com/office/drawing/2014/main" id="{C72F51C7-7D68-7A37-4A92-03BD71B44683}"/>
              </a:ext>
            </a:extLst>
          </p:cNvPr>
          <p:cNvSpPr txBox="1"/>
          <p:nvPr/>
        </p:nvSpPr>
        <p:spPr>
          <a:xfrm>
            <a:off x="838200" y="5807631"/>
            <a:ext cx="6097656" cy="369332"/>
          </a:xfrm>
          <a:prstGeom prst="rect">
            <a:avLst/>
          </a:prstGeom>
          <a:noFill/>
        </p:spPr>
        <p:txBody>
          <a:bodyPr wrap="square">
            <a:spAutoFit/>
          </a:bodyPr>
          <a:lstStyle/>
          <a:p>
            <a:pPr marL="0" indent="0">
              <a:buNone/>
            </a:pPr>
            <a:r>
              <a:rPr lang="en-US" dirty="0">
                <a:hlinkClick r:id="rId3"/>
              </a:rPr>
              <a:t>https://kotlinlang.org/docs/classes.html#constructors</a:t>
            </a:r>
            <a:r>
              <a:rPr lang="en-US" dirty="0"/>
              <a:t> </a:t>
            </a:r>
            <a:endParaRPr lang="ru-RU" dirty="0"/>
          </a:p>
        </p:txBody>
      </p:sp>
    </p:spTree>
    <p:extLst>
      <p:ext uri="{BB962C8B-B14F-4D97-AF65-F5344CB8AC3E}">
        <p14:creationId xmlns:p14="http://schemas.microsoft.com/office/powerpoint/2010/main" val="1329137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DE23C2-598E-A395-7882-C808DD94CAE4}"/>
              </a:ext>
            </a:extLst>
          </p:cNvPr>
          <p:cNvSpPr>
            <a:spLocks noGrp="1"/>
          </p:cNvSpPr>
          <p:nvPr>
            <p:ph type="title"/>
          </p:nvPr>
        </p:nvSpPr>
        <p:spPr/>
        <p:txBody>
          <a:bodyPr/>
          <a:lstStyle/>
          <a:p>
            <a:r>
              <a:rPr lang="ru-RU" dirty="0"/>
              <a:t>Выводы</a:t>
            </a:r>
          </a:p>
        </p:txBody>
      </p:sp>
      <p:sp>
        <p:nvSpPr>
          <p:cNvPr id="3" name="Объект 2">
            <a:extLst>
              <a:ext uri="{FF2B5EF4-FFF2-40B4-BE49-F238E27FC236}">
                <a16:creationId xmlns:a16="http://schemas.microsoft.com/office/drawing/2014/main" id="{DE6D4EC2-2943-3964-9511-9639F9BEB514}"/>
              </a:ext>
            </a:extLst>
          </p:cNvPr>
          <p:cNvSpPr>
            <a:spLocks noGrp="1"/>
          </p:cNvSpPr>
          <p:nvPr>
            <p:ph idx="1"/>
          </p:nvPr>
        </p:nvSpPr>
        <p:spPr/>
        <p:txBody>
          <a:bodyPr/>
          <a:lstStyle/>
          <a:p>
            <a:r>
              <a:rPr lang="ru-RU" dirty="0"/>
              <a:t>Фича – спорная, каждый решает сам, использовать или нет</a:t>
            </a:r>
          </a:p>
        </p:txBody>
      </p:sp>
      <p:sp>
        <p:nvSpPr>
          <p:cNvPr id="4" name="Номер слайда 3">
            <a:extLst>
              <a:ext uri="{FF2B5EF4-FFF2-40B4-BE49-F238E27FC236}">
                <a16:creationId xmlns:a16="http://schemas.microsoft.com/office/drawing/2014/main" id="{B7FC81AB-4BA4-5379-FE31-4C80A59885CD}"/>
              </a:ext>
            </a:extLst>
          </p:cNvPr>
          <p:cNvSpPr>
            <a:spLocks noGrp="1"/>
          </p:cNvSpPr>
          <p:nvPr>
            <p:ph type="sldNum" sz="quarter" idx="12"/>
          </p:nvPr>
        </p:nvSpPr>
        <p:spPr/>
        <p:txBody>
          <a:bodyPr/>
          <a:lstStyle/>
          <a:p>
            <a:fld id="{F8C669BE-477D-42CA-A759-78A8F38A317E}" type="slidenum">
              <a:rPr lang="ru-RU" smtClean="0"/>
              <a:t>27</a:t>
            </a:fld>
            <a:endParaRPr lang="ru-RU"/>
          </a:p>
        </p:txBody>
      </p:sp>
    </p:spTree>
    <p:extLst>
      <p:ext uri="{BB962C8B-B14F-4D97-AF65-F5344CB8AC3E}">
        <p14:creationId xmlns:p14="http://schemas.microsoft.com/office/powerpoint/2010/main" val="3696870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BCD91A-D866-B490-389B-FE3540A3A176}"/>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BFB99CE1-DFC4-9C54-58F6-CC45A64F52C3}"/>
              </a:ext>
            </a:extLst>
          </p:cNvPr>
          <p:cNvSpPr>
            <a:spLocks noGrp="1"/>
          </p:cNvSpPr>
          <p:nvPr>
            <p:ph idx="1"/>
          </p:nvPr>
        </p:nvSpPr>
        <p:spPr/>
        <p:txBody>
          <a:bodyPr>
            <a:normAutofit/>
          </a:bodyPr>
          <a:lstStyle/>
          <a:p>
            <a:pPr marL="514350" indent="-514350">
              <a:buAutoNum type="arabicPeriod"/>
            </a:pPr>
            <a:r>
              <a:rPr lang="en-US" sz="2000" dirty="0">
                <a:hlinkClick r:id="rId3"/>
              </a:rPr>
              <a:t>https://github.com/dotnet/csharplang/blob/main/proposals/csharp-12.0/primary-constructors.md</a:t>
            </a:r>
            <a:r>
              <a:rPr lang="ru-RU" sz="2000" dirty="0"/>
              <a:t> </a:t>
            </a:r>
          </a:p>
          <a:p>
            <a:pPr marL="514350" indent="-514350">
              <a:buAutoNum type="arabicPeriod"/>
            </a:pPr>
            <a:r>
              <a:rPr lang="en-US" sz="2000" dirty="0">
                <a:hlinkClick r:id="rId4"/>
              </a:rPr>
              <a:t>https://github.com/dotnet/csharplang/issues/2691</a:t>
            </a:r>
            <a:r>
              <a:rPr lang="ru-RU" sz="2000" dirty="0"/>
              <a:t> </a:t>
            </a:r>
            <a:r>
              <a:rPr lang="en-US" sz="2000" dirty="0"/>
              <a:t>Primary Constructors</a:t>
            </a:r>
            <a:endParaRPr lang="ru-RU" sz="2000" dirty="0"/>
          </a:p>
          <a:p>
            <a:pPr marL="514350" indent="-514350">
              <a:buAutoNum type="arabicPeriod"/>
            </a:pPr>
            <a:r>
              <a:rPr lang="en-US" sz="2000" dirty="0">
                <a:hlinkClick r:id="rId5"/>
              </a:rPr>
              <a:t>https://github.com/dotnet/csharplang/discussions/7109</a:t>
            </a:r>
            <a:r>
              <a:rPr lang="ru-RU" sz="2000" dirty="0"/>
              <a:t> </a:t>
            </a:r>
            <a:r>
              <a:rPr lang="en-US" sz="2000" dirty="0"/>
              <a:t>Preview Feedback: C# 12 Primary constructors</a:t>
            </a:r>
          </a:p>
          <a:p>
            <a:pPr marL="514350" indent="-514350">
              <a:buAutoNum type="arabicPeriod"/>
            </a:pPr>
            <a:r>
              <a:rPr lang="en-US" sz="2000" dirty="0">
                <a:hlinkClick r:id="rId6"/>
              </a:rPr>
              <a:t>https://github.com/dotnet/csharplang/discussions/7667</a:t>
            </a:r>
            <a:r>
              <a:rPr lang="ru-RU" sz="2000" dirty="0"/>
              <a:t> </a:t>
            </a:r>
            <a:r>
              <a:rPr lang="en-US" sz="2000" dirty="0"/>
              <a:t>Feedback on primary constructors</a:t>
            </a:r>
            <a:endParaRPr lang="ru-RU" sz="2000" dirty="0"/>
          </a:p>
          <a:p>
            <a:pPr marL="514350" indent="-514350">
              <a:buAutoNum type="arabicPeriod"/>
            </a:pPr>
            <a:r>
              <a:rPr lang="en-US" sz="2000" dirty="0">
                <a:hlinkClick r:id="rId7"/>
              </a:rPr>
              <a:t>https://learn.microsoft.com/en-us/dotnet/csharp/whats-new/tutorials/primary-constructors</a:t>
            </a:r>
            <a:endParaRPr lang="en-US" sz="2000" dirty="0"/>
          </a:p>
          <a:p>
            <a:pPr marL="514350" indent="-514350">
              <a:buAutoNum type="arabicPeriod"/>
            </a:pPr>
            <a:r>
              <a:rPr lang="en-US" sz="2000" dirty="0">
                <a:hlinkClick r:id="rId8"/>
              </a:rPr>
              <a:t>https://learn.microsoft.com/en-us/dotnet/csharp/programming-guide/classes-and-structs/instance-constructors#primary-constructors</a:t>
            </a:r>
            <a:r>
              <a:rPr lang="en-US" sz="2000" dirty="0"/>
              <a:t> </a:t>
            </a:r>
            <a:endParaRPr lang="ru-RU" sz="2000" dirty="0"/>
          </a:p>
        </p:txBody>
      </p:sp>
      <p:sp>
        <p:nvSpPr>
          <p:cNvPr id="4" name="Номер слайда 3">
            <a:extLst>
              <a:ext uri="{FF2B5EF4-FFF2-40B4-BE49-F238E27FC236}">
                <a16:creationId xmlns:a16="http://schemas.microsoft.com/office/drawing/2014/main" id="{B7D96816-A6E3-1892-9B75-3D69F5017A45}"/>
              </a:ext>
            </a:extLst>
          </p:cNvPr>
          <p:cNvSpPr>
            <a:spLocks noGrp="1"/>
          </p:cNvSpPr>
          <p:nvPr>
            <p:ph type="sldNum" sz="quarter" idx="12"/>
          </p:nvPr>
        </p:nvSpPr>
        <p:spPr/>
        <p:txBody>
          <a:bodyPr/>
          <a:lstStyle/>
          <a:p>
            <a:fld id="{F8C669BE-477D-42CA-A759-78A8F38A317E}" type="slidenum">
              <a:rPr lang="ru-RU" smtClean="0"/>
              <a:t>28</a:t>
            </a:fld>
            <a:endParaRPr lang="ru-RU"/>
          </a:p>
        </p:txBody>
      </p:sp>
    </p:spTree>
    <p:extLst>
      <p:ext uri="{BB962C8B-B14F-4D97-AF65-F5344CB8AC3E}">
        <p14:creationId xmlns:p14="http://schemas.microsoft.com/office/powerpoint/2010/main" val="17208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B26DED-CABA-698C-CD80-ECD46338C94A}"/>
              </a:ext>
            </a:extLst>
          </p:cNvPr>
          <p:cNvSpPr>
            <a:spLocks noGrp="1"/>
          </p:cNvSpPr>
          <p:nvPr>
            <p:ph type="title"/>
          </p:nvPr>
        </p:nvSpPr>
        <p:spPr/>
        <p:txBody>
          <a:bodyPr/>
          <a:lstStyle/>
          <a:p>
            <a:r>
              <a:rPr lang="ru-RU" dirty="0"/>
              <a:t>Вопросы и ответы</a:t>
            </a:r>
          </a:p>
        </p:txBody>
      </p:sp>
      <p:sp>
        <p:nvSpPr>
          <p:cNvPr id="5" name="Объект 4">
            <a:extLst>
              <a:ext uri="{FF2B5EF4-FFF2-40B4-BE49-F238E27FC236}">
                <a16:creationId xmlns:a16="http://schemas.microsoft.com/office/drawing/2014/main" id="{97C842CE-D0C0-6161-B2E5-AED748B3248B}"/>
              </a:ext>
            </a:extLst>
          </p:cNvPr>
          <p:cNvSpPr>
            <a:spLocks noGrp="1"/>
          </p:cNvSpPr>
          <p:nvPr>
            <p:ph sz="half" idx="2"/>
          </p:nvPr>
        </p:nvSpPr>
        <p:spPr>
          <a:xfrm>
            <a:off x="5669280" y="1825625"/>
            <a:ext cx="5684520" cy="4351338"/>
          </a:xfrm>
        </p:spPr>
        <p:txBody>
          <a:bodyPr/>
          <a:lstStyle/>
          <a:p>
            <a:pPr marL="0" indent="0">
              <a:buNone/>
            </a:pPr>
            <a:r>
              <a:rPr lang="en-US" dirty="0">
                <a:hlinkClick r:id="rId3"/>
              </a:rPr>
              <a:t>https://t.me/mister_m0j0</a:t>
            </a:r>
            <a:r>
              <a:rPr lang="ru-RU" dirty="0"/>
              <a:t> </a:t>
            </a:r>
            <a:endParaRPr lang="en-US" dirty="0"/>
          </a:p>
          <a:p>
            <a:pPr marL="0" indent="0">
              <a:buNone/>
            </a:pPr>
            <a:r>
              <a:rPr lang="en-US" dirty="0">
                <a:hlinkClick r:id="rId4"/>
              </a:rPr>
              <a:t>https://github.com/m0j0</a:t>
            </a:r>
            <a:endParaRPr lang="en-US" dirty="0"/>
          </a:p>
          <a:p>
            <a:pPr marL="0" indent="0">
              <a:buNone/>
            </a:pPr>
            <a:endParaRPr lang="ru-RU" dirty="0"/>
          </a:p>
        </p:txBody>
      </p:sp>
      <p:sp>
        <p:nvSpPr>
          <p:cNvPr id="3" name="Номер слайда 2">
            <a:extLst>
              <a:ext uri="{FF2B5EF4-FFF2-40B4-BE49-F238E27FC236}">
                <a16:creationId xmlns:a16="http://schemas.microsoft.com/office/drawing/2014/main" id="{57207465-8139-572B-003D-26CD344C0D44}"/>
              </a:ext>
            </a:extLst>
          </p:cNvPr>
          <p:cNvSpPr>
            <a:spLocks noGrp="1"/>
          </p:cNvSpPr>
          <p:nvPr>
            <p:ph type="sldNum" sz="quarter" idx="12"/>
          </p:nvPr>
        </p:nvSpPr>
        <p:spPr/>
        <p:txBody>
          <a:bodyPr/>
          <a:lstStyle/>
          <a:p>
            <a:fld id="{F8C669BE-477D-42CA-A759-78A8F38A317E}" type="slidenum">
              <a:rPr lang="ru-RU" smtClean="0"/>
              <a:t>29</a:t>
            </a:fld>
            <a:endParaRPr lang="ru-RU"/>
          </a:p>
        </p:txBody>
      </p:sp>
      <p:pic>
        <p:nvPicPr>
          <p:cNvPr id="1026" name="Picture 2">
            <a:extLst>
              <a:ext uri="{FF2B5EF4-FFF2-40B4-BE49-F238E27FC236}">
                <a16:creationId xmlns:a16="http://schemas.microsoft.com/office/drawing/2014/main" id="{D9C979E1-9BBF-BB44-6924-5050FE2109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735" y="1690688"/>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966342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1435</TotalTime>
  <Words>2812</Words>
  <Application>Microsoft Office PowerPoint</Application>
  <PresentationFormat>Широкоэкранный</PresentationFormat>
  <Paragraphs>361</Paragraphs>
  <Slides>29</Slides>
  <Notes>29</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29</vt:i4>
      </vt:variant>
    </vt:vector>
  </HeadingPairs>
  <TitlesOfParts>
    <vt:vector size="38" baseType="lpstr">
      <vt:lpstr>Aptos</vt:lpstr>
      <vt:lpstr>Aptos Display</vt:lpstr>
      <vt:lpstr>Arial</vt:lpstr>
      <vt:lpstr>Cascadia Mono</vt:lpstr>
      <vt:lpstr>Consolas</vt:lpstr>
      <vt:lpstr>Open Sans</vt:lpstr>
      <vt:lpstr>Roboto</vt:lpstr>
      <vt:lpstr>Segoe UI</vt:lpstr>
      <vt:lpstr>Тема Office</vt:lpstr>
      <vt:lpstr>C# 12 Primary constructors</vt:lpstr>
      <vt:lpstr>Основные конструкторы</vt:lpstr>
      <vt:lpstr>Record primary constructors</vt:lpstr>
      <vt:lpstr>Class primary constructors. Ожидание</vt:lpstr>
      <vt:lpstr>Class primary constructors. Реальность</vt:lpstr>
      <vt:lpstr>Что же это такое?</vt:lpstr>
      <vt:lpstr>Презентация PowerPoint</vt:lpstr>
      <vt:lpstr>Структуры</vt:lpstr>
      <vt:lpstr>Readonly-структуры</vt:lpstr>
      <vt:lpstr>Использование. Поля, свойства и методы</vt:lpstr>
      <vt:lpstr>Наследование</vt:lpstr>
      <vt:lpstr>Явные конструкторы</vt:lpstr>
      <vt:lpstr>Проблемы</vt:lpstr>
      <vt:lpstr>Изменяемое состояние</vt:lpstr>
      <vt:lpstr>Нет проверки аргументов</vt:lpstr>
      <vt:lpstr>Неконсистентное именование</vt:lpstr>
      <vt:lpstr>Неконсистентное именование</vt:lpstr>
      <vt:lpstr>Двойное использование (double storage)</vt:lpstr>
      <vt:lpstr>Почему так случилось?</vt:lpstr>
      <vt:lpstr>Что с этим делать?</vt:lpstr>
      <vt:lpstr>Смириться</vt:lpstr>
      <vt:lpstr>Ждать</vt:lpstr>
      <vt:lpstr>Source-генератор</vt:lpstr>
      <vt:lpstr>А как в других языках?</vt:lpstr>
      <vt:lpstr>F#</vt:lpstr>
      <vt:lpstr>Kotlin</vt:lpstr>
      <vt:lpstr>Выводы</vt:lpstr>
      <vt:lpstr>Ссылки</vt:lpstr>
      <vt:lpstr>Вопросы и ответы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12 Primary constructors</dc:title>
  <dc:creator>Никита Маслов</dc:creator>
  <cp:lastModifiedBy>Никита Маслов</cp:lastModifiedBy>
  <cp:revision>172</cp:revision>
  <cp:lastPrinted>2024-02-29T11:31:22Z</cp:lastPrinted>
  <dcterms:created xsi:type="dcterms:W3CDTF">2024-01-17T12:54:02Z</dcterms:created>
  <dcterms:modified xsi:type="dcterms:W3CDTF">2024-02-29T12:41:20Z</dcterms:modified>
</cp:coreProperties>
</file>